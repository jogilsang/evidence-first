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56032"/>
            <a:ext cx="11551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evidence-first: DeciderGate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9494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A local Strands Decider 2B classifies; plain code decides whether the agent's action may run</a:t>
            </a:r>
          </a:p>
        </p:txBody>
      </p:sp>
      <p:sp>
        <p:nvSpPr>
          <p:cNvPr id="4" name="group:generic"/>
          <p:cNvSpPr/>
          <p:nvPr/>
        </p:nvSpPr>
        <p:spPr>
          <a:xfrm>
            <a:off x="320040" y="868680"/>
            <a:ext cx="2630059" cy="502920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7793"/>
            <a:ext cx="2630059" cy="29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6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Production incident</a:t>
            </a:r>
          </a:p>
        </p:txBody>
      </p:sp>
      <p:sp>
        <p:nvSpPr>
          <p:cNvPr id="6" name="group:aws-cloud"/>
          <p:cNvSpPr/>
          <p:nvPr/>
        </p:nvSpPr>
        <p:spPr>
          <a:xfrm>
            <a:off x="3293892" y="868680"/>
            <a:ext cx="2630059" cy="5029200"/>
          </a:xfrm>
          <a:prstGeom prst="rect">
            <a:avLst/>
          </a:prstGeom>
          <a:noFill/>
          <a:ln w="15875">
            <a:solidFill>
              <a:srgbClr val="232F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:group-aws-cloud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3892" y="868680"/>
            <a:ext cx="294680" cy="294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47508" y="888325"/>
            <a:ext cx="2230723" cy="294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6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Strands agent (SRE)</a:t>
            </a:r>
          </a:p>
        </p:txBody>
      </p:sp>
      <p:sp>
        <p:nvSpPr>
          <p:cNvPr id="9" name="group:highlight"/>
          <p:cNvSpPr/>
          <p:nvPr/>
        </p:nvSpPr>
        <p:spPr>
          <a:xfrm>
            <a:off x="6267744" y="868680"/>
            <a:ext cx="2630059" cy="5029200"/>
          </a:xfrm>
          <a:prstGeom prst="rect">
            <a:avLst/>
          </a:prstGeom>
          <a:solidFill>
            <a:srgbClr val="FFF7EE"/>
          </a:solidFill>
          <a:ln w="15875">
            <a:solidFill>
              <a:srgbClr val="ED71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6325" y="888325"/>
            <a:ext cx="2505758" cy="294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6" b="0">
                <a:solidFill>
                  <a:srgbClr val="ED7100"/>
                </a:solidFill>
                <a:latin typeface="Arial"/>
                <a:ea typeface="맑은 고딕"/>
                <a:cs typeface="Arial"/>
              </a:rPr>
              <a:t>DeciderGate: runs locally at before_tool_call</a:t>
            </a:r>
          </a:p>
        </p:txBody>
      </p:sp>
      <p:sp>
        <p:nvSpPr>
          <p:cNvPr id="11" name="group:generic"/>
          <p:cNvSpPr/>
          <p:nvPr/>
        </p:nvSpPr>
        <p:spPr>
          <a:xfrm>
            <a:off x="9241596" y="868680"/>
            <a:ext cx="2630059" cy="502920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41596" y="917793"/>
            <a:ext cx="2630059" cy="29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6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Outcome</a:t>
            </a:r>
          </a:p>
        </p:txBody>
      </p:sp>
      <p:cxnSp>
        <p:nvCxnSpPr>
          <p:cNvPr id="31" name="Connector 30"/>
          <p:cNvCxnSpPr>
            <a:stCxn id="13" idx="3"/>
            <a:endCxn id="16" idx="2"/>
          </p:cNvCxnSpPr>
          <p:nvPr/>
        </p:nvCxnSpPr>
        <p:spPr>
          <a:xfrm flipV="1">
            <a:off x="1870813" y="3302662"/>
            <a:ext cx="2738108" cy="2035"/>
          </a:xfrm>
          <a:prstGeom prst="bentConnector2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6" idx="2"/>
            <a:endCxn id="17" idx="0"/>
          </p:cNvCxnSpPr>
          <p:nvPr/>
        </p:nvCxnSpPr>
        <p:spPr>
          <a:xfrm>
            <a:off x="4608921" y="3302662"/>
            <a:ext cx="0" cy="355651"/>
          </a:xfrm>
          <a:prstGeom prst="straightConnector1">
            <a:avLst/>
          </a:prstGeom>
          <a:ln w="15875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5" idx="3"/>
            <a:endCxn id="19" idx="1"/>
          </p:cNvCxnSpPr>
          <p:nvPr/>
        </p:nvCxnSpPr>
        <p:spPr>
          <a:xfrm flipV="1">
            <a:off x="4844665" y="1536620"/>
            <a:ext cx="2502364" cy="1178718"/>
          </a:xfrm>
          <a:prstGeom prst="bentConnector3">
            <a:avLst/>
          </a:prstGeom>
          <a:ln w="19050">
            <a:solidFill>
              <a:srgbClr val="D86613"/>
            </a:solidFill>
            <a:prstDash val="solid"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20" idx="2"/>
            <a:endCxn id="21" idx="0"/>
          </p:cNvCxnSpPr>
          <p:nvPr/>
        </p:nvCxnSpPr>
        <p:spPr>
          <a:xfrm>
            <a:off x="7582773" y="2123944"/>
            <a:ext cx="0" cy="355651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2" idx="2"/>
            <a:endCxn id="23" idx="0"/>
          </p:cNvCxnSpPr>
          <p:nvPr/>
        </p:nvCxnSpPr>
        <p:spPr>
          <a:xfrm>
            <a:off x="7582773" y="3302662"/>
            <a:ext cx="0" cy="355651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4" idx="2"/>
            <a:endCxn id="25" idx="0"/>
          </p:cNvCxnSpPr>
          <p:nvPr/>
        </p:nvCxnSpPr>
        <p:spPr>
          <a:xfrm>
            <a:off x="7582773" y="4481381"/>
            <a:ext cx="0" cy="355651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25" idx="3"/>
            <a:endCxn id="27" idx="1"/>
          </p:cNvCxnSpPr>
          <p:nvPr/>
        </p:nvCxnSpPr>
        <p:spPr>
          <a:xfrm flipV="1">
            <a:off x="7818517" y="2715339"/>
            <a:ext cx="2502364" cy="2357437"/>
          </a:xfrm>
          <a:prstGeom prst="bentConnector3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25" idx="3"/>
            <a:endCxn id="29" idx="1"/>
          </p:cNvCxnSpPr>
          <p:nvPr/>
        </p:nvCxnSpPr>
        <p:spPr>
          <a:xfrm flipV="1">
            <a:off x="7818517" y="3894058"/>
            <a:ext cx="2502364" cy="1178718"/>
          </a:xfrm>
          <a:prstGeom prst="bentConnector3">
            <a:avLst/>
          </a:prstGeom>
          <a:ln w="19050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con:amazon-cloudwatch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9326" y="3068955"/>
            <a:ext cx="471488" cy="4714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2040" y="3579733"/>
            <a:ext cx="1326059" cy="451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Alert / metrics</a:t>
            </a:r>
          </a:p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(5xx, latency)</a:t>
            </a:r>
          </a:p>
        </p:txBody>
      </p:sp>
      <p:pic>
        <p:nvPicPr>
          <p:cNvPr id="15" name="icon:amazon-q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3178" y="2479596"/>
            <a:ext cx="471488" cy="471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45892" y="2990374"/>
            <a:ext cx="1326059" cy="451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SRE agent</a:t>
            </a:r>
          </a:p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(Strands Agents)</a:t>
            </a:r>
          </a:p>
        </p:txBody>
      </p:sp>
      <p:pic>
        <p:nvPicPr>
          <p:cNvPr id="17" name="icon:amazon-bedrock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73178" y="3658314"/>
            <a:ext cx="471488" cy="471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45892" y="4169092"/>
            <a:ext cx="1326059" cy="451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Amazon Bedrock</a:t>
            </a:r>
          </a:p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(agent LLM)</a:t>
            </a:r>
          </a:p>
        </p:txBody>
      </p:sp>
      <p:pic>
        <p:nvPicPr>
          <p:cNvPr id="19" name="icon:aws-lambda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47030" y="1300877"/>
            <a:ext cx="471488" cy="4714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19744" y="1811655"/>
            <a:ext cx="1326059" cy="451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DeciderGate</a:t>
            </a:r>
          </a:p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review(log, action)</a:t>
            </a:r>
          </a:p>
        </p:txBody>
      </p:sp>
      <p:pic>
        <p:nvPicPr>
          <p:cNvPr id="21" name="icon:aws-step-functions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47030" y="2479596"/>
            <a:ext cx="471488" cy="4714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19744" y="2990374"/>
            <a:ext cx="1326059" cy="451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Temporal policy</a:t>
            </a:r>
          </a:p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rate / count / cost caps</a:t>
            </a:r>
          </a:p>
        </p:txBody>
      </p:sp>
      <p:pic>
        <p:nvPicPr>
          <p:cNvPr id="23" name="icon:client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47030" y="3658314"/>
            <a:ext cx="471488" cy="471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19744" y="4169092"/>
            <a:ext cx="1326059" cy="451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Strands Decider 2B</a:t>
            </a:r>
          </a:p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local model (~141 ms)</a:t>
            </a:r>
          </a:p>
        </p:txBody>
      </p:sp>
      <p:pic>
        <p:nvPicPr>
          <p:cNvPr id="25" name="icon:aws-identity-and-access-management-iam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47030" y="4837033"/>
            <a:ext cx="471488" cy="471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19744" y="5347811"/>
            <a:ext cx="1326059" cy="451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Policy in code</a:t>
            </a:r>
          </a:p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thresholds, 3-way verdict</a:t>
            </a:r>
          </a:p>
        </p:txBody>
      </p:sp>
      <p:pic>
        <p:nvPicPr>
          <p:cNvPr id="27" name="icon:amazon-elastic-compute-cloud-amazon-ec2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320882" y="2479596"/>
            <a:ext cx="471488" cy="4714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93596" y="2990374"/>
            <a:ext cx="1326059" cy="451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ALLOW</a:t>
            </a:r>
          </a:p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rollback / scale_out runs</a:t>
            </a:r>
          </a:p>
        </p:txBody>
      </p:sp>
      <p:pic>
        <p:nvPicPr>
          <p:cNvPr id="29" name="icon:user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20882" y="3658314"/>
            <a:ext cx="471488" cy="4714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93596" y="4169092"/>
            <a:ext cx="1326059" cy="451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ESCALATE</a:t>
            </a:r>
          </a:p>
          <a:p>
            <a:pPr algn="ctr"/>
            <a:r>
              <a:rPr sz="91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human on-call decides</a:t>
            </a:r>
          </a:p>
        </p:txBody>
      </p:sp>
      <p:sp>
        <p:nvSpPr>
          <p:cNvPr id="39" name="badge:1"/>
          <p:cNvSpPr/>
          <p:nvPr/>
        </p:nvSpPr>
        <p:spPr>
          <a:xfrm>
            <a:off x="3107262" y="3172093"/>
            <a:ext cx="265212" cy="2652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1746" y="3478435"/>
            <a:ext cx="336242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alert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786" y="3389049"/>
            <a:ext cx="561345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LLM calls</a:t>
            </a:r>
          </a:p>
        </p:txBody>
      </p:sp>
      <p:sp>
        <p:nvSpPr>
          <p:cNvPr id="42" name="badge:2"/>
          <p:cNvSpPr/>
          <p:nvPr/>
        </p:nvSpPr>
        <p:spPr>
          <a:xfrm>
            <a:off x="6588833" y="1404015"/>
            <a:ext cx="265212" cy="2652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1939" y="1710357"/>
            <a:ext cx="898999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propose / Guide</a:t>
            </a:r>
          </a:p>
        </p:txBody>
      </p:sp>
      <p:sp>
        <p:nvSpPr>
          <p:cNvPr id="44" name="badge:3"/>
          <p:cNvSpPr/>
          <p:nvPr/>
        </p:nvSpPr>
        <p:spPr>
          <a:xfrm>
            <a:off x="7450168" y="2169164"/>
            <a:ext cx="265212" cy="2652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7366" y="2210330"/>
            <a:ext cx="1461755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cross-action limits first</a:t>
            </a:r>
          </a:p>
        </p:txBody>
      </p:sp>
      <p:sp>
        <p:nvSpPr>
          <p:cNvPr id="46" name="badge:4"/>
          <p:cNvSpPr/>
          <p:nvPr/>
        </p:nvSpPr>
        <p:spPr>
          <a:xfrm>
            <a:off x="7450168" y="3347883"/>
            <a:ext cx="265212" cy="2652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7366" y="3389049"/>
            <a:ext cx="101155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3 typed questions</a:t>
            </a:r>
          </a:p>
        </p:txBody>
      </p:sp>
      <p:sp>
        <p:nvSpPr>
          <p:cNvPr id="48" name="badge:5"/>
          <p:cNvSpPr/>
          <p:nvPr/>
        </p:nvSpPr>
        <p:spPr>
          <a:xfrm>
            <a:off x="7450168" y="4526601"/>
            <a:ext cx="265212" cy="2652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7366" y="4567767"/>
            <a:ext cx="786447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probabilities</a:t>
            </a:r>
          </a:p>
        </p:txBody>
      </p:sp>
      <p:sp>
        <p:nvSpPr>
          <p:cNvPr id="50" name="badge:6"/>
          <p:cNvSpPr/>
          <p:nvPr/>
        </p:nvSpPr>
        <p:spPr>
          <a:xfrm>
            <a:off x="9562685" y="2582734"/>
            <a:ext cx="265212" cy="2652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7170" y="2889075"/>
            <a:ext cx="336242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allow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42756" y="3930634"/>
            <a:ext cx="505069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escalate</a:t>
            </a:r>
          </a:p>
        </p:txBody>
      </p:sp>
      <p:sp>
        <p:nvSpPr>
          <p:cNvPr id="53" name="legend"/>
          <p:cNvSpPr/>
          <p:nvPr/>
        </p:nvSpPr>
        <p:spPr>
          <a:xfrm>
            <a:off x="320040" y="6103620"/>
            <a:ext cx="3291840" cy="640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1493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Flow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29768" y="6432804"/>
            <a:ext cx="457200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601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Service Flow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29768" y="6615684"/>
            <a:ext cx="457200" cy="0"/>
          </a:xfrm>
          <a:prstGeom prst="straightConnector1">
            <a:avLst/>
          </a:prstGeom>
          <a:ln w="15875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601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Management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029968" y="6432804"/>
            <a:ext cx="457200" cy="0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5603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Data Flow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029968" y="6615684"/>
            <a:ext cx="457200" cy="0"/>
          </a:xfrm>
          <a:prstGeom prst="straightConnector1">
            <a:avLst/>
          </a:prstGeom>
          <a:ln w="19050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5603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Alert / Event</a:t>
            </a:r>
          </a:p>
        </p:txBody>
      </p:sp>
      <p:sp>
        <p:nvSpPr>
          <p:cNvPr id="63" name="badge:1"/>
          <p:cNvSpPr/>
          <p:nvPr/>
        </p:nvSpPr>
        <p:spPr>
          <a:xfrm>
            <a:off x="3895344" y="6076188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60520" y="6053328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Incident  </a:t>
            </a:r>
          </a:p>
        </p:txBody>
      </p:sp>
      <p:sp>
        <p:nvSpPr>
          <p:cNvPr id="65" name="badge:2"/>
          <p:cNvSpPr/>
          <p:nvPr/>
        </p:nvSpPr>
        <p:spPr>
          <a:xfrm>
            <a:off x="3895344" y="6323076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60520" y="6300216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Proposal and Guide  </a:t>
            </a:r>
          </a:p>
        </p:txBody>
      </p:sp>
      <p:sp>
        <p:nvSpPr>
          <p:cNvPr id="67" name="badge:3"/>
          <p:cNvSpPr/>
          <p:nvPr/>
        </p:nvSpPr>
        <p:spPr>
          <a:xfrm>
            <a:off x="3895344" y="6569964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60520" y="6547104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Cross-action limits  </a:t>
            </a:r>
          </a:p>
        </p:txBody>
      </p:sp>
      <p:sp>
        <p:nvSpPr>
          <p:cNvPr id="69" name="badge:4"/>
          <p:cNvSpPr/>
          <p:nvPr/>
        </p:nvSpPr>
        <p:spPr>
          <a:xfrm>
            <a:off x="7888072" y="6076188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53248" y="6053328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Ask the model  </a:t>
            </a:r>
          </a:p>
        </p:txBody>
      </p:sp>
      <p:sp>
        <p:nvSpPr>
          <p:cNvPr id="71" name="badge:5"/>
          <p:cNvSpPr/>
          <p:nvPr/>
        </p:nvSpPr>
        <p:spPr>
          <a:xfrm>
            <a:off x="7888072" y="6323076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53248" y="6300216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Probabilities  </a:t>
            </a:r>
          </a:p>
        </p:txBody>
      </p:sp>
      <p:sp>
        <p:nvSpPr>
          <p:cNvPr id="73" name="badge:6"/>
          <p:cNvSpPr/>
          <p:nvPr/>
        </p:nvSpPr>
        <p:spPr>
          <a:xfrm>
            <a:off x="7888072" y="6569964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53248" y="6547104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Verdict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