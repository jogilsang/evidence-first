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2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classifies, code decides. Decider 2B는 로컬(MLX)에서 분류만, 결정은 Policy 코드. Guide=거부가 아니라 교정.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classifies, code decides. Decider 2B는 로컬(MLX)에서 분류만, 결정은 Policy 코드. Guide=거부가 아니라 교정.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classifies, code decides. Decider 2B는 로컬(MLX)에서 분류만, 결정은 Policy 코드. Guide=거부가 아니라 교정.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classifies, code decides. Decider 2B는 로컬(MLX)에서 분류만, 결정은 Policy 코드. Guide=거부가 아니라 교정.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classifies, code decides. Decider 2B는 로컬(MLX)에서 분류만, 결정은 Policy 코드. Guide=거부가 아니라 교정.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11.png"/><Relationship Id="rId13" Type="http://schemas.openxmlformats.org/officeDocument/2006/relationships/image" Target="../media/image12.svg"/><Relationship Id="rId14" Type="http://schemas.openxmlformats.org/officeDocument/2006/relationships/image" Target="../media/image13.png"/><Relationship Id="rId15" Type="http://schemas.openxmlformats.org/officeDocument/2006/relationships/image" Target="../media/image14.svg"/><Relationship Id="rId16" Type="http://schemas.openxmlformats.org/officeDocument/2006/relationships/image" Target="../media/image15.png"/><Relationship Id="rId17" Type="http://schemas.openxmlformats.org/officeDocument/2006/relationships/image" Target="../media/image16.svg"/><Relationship Id="rId1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11.png"/><Relationship Id="rId13" Type="http://schemas.openxmlformats.org/officeDocument/2006/relationships/image" Target="../media/image12.svg"/><Relationship Id="rId14" Type="http://schemas.openxmlformats.org/officeDocument/2006/relationships/image" Target="../media/image13.png"/><Relationship Id="rId15" Type="http://schemas.openxmlformats.org/officeDocument/2006/relationships/image" Target="../media/image14.svg"/><Relationship Id="rId16" Type="http://schemas.openxmlformats.org/officeDocument/2006/relationships/image" Target="../media/image15.png"/><Relationship Id="rId17" Type="http://schemas.openxmlformats.org/officeDocument/2006/relationships/image" Target="../media/image16.svg"/><Relationship Id="rId1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11.png"/><Relationship Id="rId13" Type="http://schemas.openxmlformats.org/officeDocument/2006/relationships/image" Target="../media/image12.svg"/><Relationship Id="rId14" Type="http://schemas.openxmlformats.org/officeDocument/2006/relationships/image" Target="../media/image13.png"/><Relationship Id="rId15" Type="http://schemas.openxmlformats.org/officeDocument/2006/relationships/image" Target="../media/image14.svg"/><Relationship Id="rId16" Type="http://schemas.openxmlformats.org/officeDocument/2006/relationships/image" Target="../media/image15.png"/><Relationship Id="rId17" Type="http://schemas.openxmlformats.org/officeDocument/2006/relationships/image" Target="../media/image16.svg"/><Relationship Id="rId1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11.png"/><Relationship Id="rId13" Type="http://schemas.openxmlformats.org/officeDocument/2006/relationships/image" Target="../media/image12.svg"/><Relationship Id="rId14" Type="http://schemas.openxmlformats.org/officeDocument/2006/relationships/image" Target="../media/image13.png"/><Relationship Id="rId15" Type="http://schemas.openxmlformats.org/officeDocument/2006/relationships/image" Target="../media/image14.svg"/><Relationship Id="rId16" Type="http://schemas.openxmlformats.org/officeDocument/2006/relationships/image" Target="../media/image15.png"/><Relationship Id="rId17" Type="http://schemas.openxmlformats.org/officeDocument/2006/relationships/image" Target="../media/image16.svg"/><Relationship Id="rId1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11.png"/><Relationship Id="rId13" Type="http://schemas.openxmlformats.org/officeDocument/2006/relationships/image" Target="../media/image12.svg"/><Relationship Id="rId14" Type="http://schemas.openxmlformats.org/officeDocument/2006/relationships/image" Target="../media/image13.png"/><Relationship Id="rId15" Type="http://schemas.openxmlformats.org/officeDocument/2006/relationships/image" Target="../media/image14.svg"/><Relationship Id="rId16" Type="http://schemas.openxmlformats.org/officeDocument/2006/relationships/image" Target="../media/image15.png"/><Relationship Id="rId17" Type="http://schemas.openxmlformats.org/officeDocument/2006/relationships/image" Target="../media/image16.svg"/><Relationship Id="rId18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56032"/>
            <a:ext cx="115516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DeciderGate — 에이전트 조치 전 근거 검증 가드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9494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D8998"/>
                </a:solidFill>
                <a:latin typeface="Arial"/>
                <a:ea typeface="맑은 고딕"/>
                <a:cs typeface="Arial"/>
              </a:rPr>
              <a:t>Strands Decider 2B + before_tool_call + Amazon Bedrock</a:t>
            </a:r>
          </a:p>
        </p:txBody>
      </p:sp>
      <p:sp>
        <p:nvSpPr>
          <p:cNvPr id="4" name="group:generic"/>
          <p:cNvSpPr/>
          <p:nvPr/>
        </p:nvSpPr>
        <p:spPr>
          <a:xfrm>
            <a:off x="320040" y="868680"/>
            <a:ext cx="2270684" cy="5029200"/>
          </a:xfrm>
          <a:prstGeom prst="rect">
            <a:avLst/>
          </a:prstGeom>
          <a:noFill/>
          <a:ln w="15875">
            <a:solidFill>
              <a:srgbClr val="7D899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23544"/>
            <a:ext cx="227068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80" b="0">
                <a:solidFill>
                  <a:srgbClr val="7D8998"/>
                </a:solidFill>
                <a:latin typeface="Arial"/>
                <a:ea typeface="맑은 고딕"/>
                <a:cs typeface="Arial"/>
              </a:rPr>
              <a:t>Operations (On-call)</a:t>
            </a:r>
          </a:p>
        </p:txBody>
      </p:sp>
      <p:sp>
        <p:nvSpPr>
          <p:cNvPr id="6" name="group:aws-cloud"/>
          <p:cNvSpPr/>
          <p:nvPr/>
        </p:nvSpPr>
        <p:spPr>
          <a:xfrm>
            <a:off x="2974772" y="868680"/>
            <a:ext cx="2270684" cy="5029200"/>
          </a:xfrm>
          <a:prstGeom prst="rect">
            <a:avLst/>
          </a:prstGeom>
          <a:noFill/>
          <a:ln w="15875">
            <a:solidFill>
              <a:srgbClr val="232F3E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icon:group-aws-cloud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74772" y="868680"/>
            <a:ext cx="329184" cy="3291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369793" y="890626"/>
            <a:ext cx="182994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80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AWS Cloud</a:t>
            </a:r>
          </a:p>
        </p:txBody>
      </p:sp>
      <p:sp>
        <p:nvSpPr>
          <p:cNvPr id="9" name="group:highlight"/>
          <p:cNvSpPr/>
          <p:nvPr/>
        </p:nvSpPr>
        <p:spPr>
          <a:xfrm>
            <a:off x="5629504" y="868680"/>
            <a:ext cx="3587420" cy="5029200"/>
          </a:xfrm>
          <a:prstGeom prst="rect">
            <a:avLst/>
          </a:prstGeom>
          <a:solidFill>
            <a:srgbClr val="FFF7EE"/>
          </a:solidFill>
          <a:ln w="15875">
            <a:solidFill>
              <a:srgbClr val="ED71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17286" y="890626"/>
            <a:ext cx="345391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80" b="0">
                <a:solidFill>
                  <a:srgbClr val="ED7100"/>
                </a:solidFill>
                <a:latin typeface="Arial"/>
                <a:ea typeface="맑은 고딕"/>
                <a:cs typeface="Arial"/>
              </a:rPr>
              <a:t>DeciderGate  (before_tool_call · 로컬)</a:t>
            </a:r>
          </a:p>
        </p:txBody>
      </p:sp>
      <p:sp>
        <p:nvSpPr>
          <p:cNvPr id="11" name="group:generic"/>
          <p:cNvSpPr/>
          <p:nvPr/>
        </p:nvSpPr>
        <p:spPr>
          <a:xfrm>
            <a:off x="9600971" y="868680"/>
            <a:ext cx="2270684" cy="5029200"/>
          </a:xfrm>
          <a:prstGeom prst="rect">
            <a:avLst/>
          </a:prstGeom>
          <a:noFill/>
          <a:ln w="15875">
            <a:solidFill>
              <a:srgbClr val="7D899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0971" y="923544"/>
            <a:ext cx="227068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80" b="0">
                <a:solidFill>
                  <a:srgbClr val="7D8998"/>
                </a:solidFill>
                <a:latin typeface="Arial"/>
                <a:ea typeface="맑은 고딕"/>
                <a:cs typeface="Arial"/>
              </a:rPr>
              <a:t>Remediation</a:t>
            </a:r>
          </a:p>
        </p:txBody>
      </p:sp>
      <p:cxnSp>
        <p:nvCxnSpPr>
          <p:cNvPr id="29" name="Connector 28"/>
          <p:cNvCxnSpPr>
            <a:stCxn id="14" idx="2"/>
            <a:endCxn id="15" idx="0"/>
          </p:cNvCxnSpPr>
          <p:nvPr/>
        </p:nvCxnSpPr>
        <p:spPr>
          <a:xfrm>
            <a:off x="1455381" y="3290011"/>
            <a:ext cx="0" cy="400507"/>
          </a:xfrm>
          <a:prstGeom prst="straightConnector1">
            <a:avLst/>
          </a:prstGeom>
          <a:ln w="19050">
            <a:solidFill>
              <a:srgbClr val="D86613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5" idx="3"/>
            <a:endCxn id="18" idx="2"/>
          </p:cNvCxnSpPr>
          <p:nvPr/>
        </p:nvCxnSpPr>
        <p:spPr>
          <a:xfrm flipV="1">
            <a:off x="1718729" y="3948379"/>
            <a:ext cx="2391384" cy="5486"/>
          </a:xfrm>
          <a:prstGeom prst="bentConnector2">
            <a:avLst/>
          </a:prstGeom>
          <a:ln w="19050">
            <a:solidFill>
              <a:srgbClr val="D86613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7" idx="3"/>
            <a:endCxn id="20" idx="2"/>
          </p:cNvCxnSpPr>
          <p:nvPr/>
        </p:nvCxnSpPr>
        <p:spPr>
          <a:xfrm flipV="1">
            <a:off x="4373460" y="2267711"/>
            <a:ext cx="3049752" cy="1027785"/>
          </a:xfrm>
          <a:prstGeom prst="bentConnector2">
            <a:avLst/>
          </a:prstGeom>
          <a:ln w="19050">
            <a:solidFill>
              <a:srgbClr val="D86613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20" idx="2"/>
            <a:endCxn id="21" idx="0"/>
          </p:cNvCxnSpPr>
          <p:nvPr/>
        </p:nvCxnSpPr>
        <p:spPr>
          <a:xfrm rot="5400000">
            <a:off x="6335991" y="2603296"/>
            <a:ext cx="1422806" cy="751636"/>
          </a:xfrm>
          <a:prstGeom prst="bentConnector3">
            <a:avLst/>
          </a:prstGeom>
          <a:ln w="19050">
            <a:solidFill>
              <a:srgbClr val="147EBA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stCxn id="21" idx="3"/>
            <a:endCxn id="23" idx="1"/>
          </p:cNvCxnSpPr>
          <p:nvPr/>
        </p:nvCxnSpPr>
        <p:spPr>
          <a:xfrm>
            <a:off x="6934923" y="3953865"/>
            <a:ext cx="976579" cy="0"/>
          </a:xfrm>
          <a:prstGeom prst="straightConnector1">
            <a:avLst/>
          </a:prstGeom>
          <a:ln w="19050">
            <a:solidFill>
              <a:srgbClr val="147EBA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23" idx="3"/>
            <a:endCxn id="25" idx="1"/>
          </p:cNvCxnSpPr>
          <p:nvPr/>
        </p:nvCxnSpPr>
        <p:spPr>
          <a:xfrm flipV="1">
            <a:off x="8438197" y="2637129"/>
            <a:ext cx="2034768" cy="1316736"/>
          </a:xfrm>
          <a:prstGeom prst="bentConnector3">
            <a:avLst/>
          </a:prstGeom>
          <a:ln w="19050">
            <a:solidFill>
              <a:srgbClr val="D86613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23" idx="3"/>
            <a:endCxn id="27" idx="1"/>
          </p:cNvCxnSpPr>
          <p:nvPr/>
        </p:nvCxnSpPr>
        <p:spPr>
          <a:xfrm>
            <a:off x="8438197" y="3953865"/>
            <a:ext cx="2034768" cy="0"/>
          </a:xfrm>
          <a:prstGeom prst="straightConnector1">
            <a:avLst/>
          </a:prstGeom>
          <a:ln w="19050">
            <a:solidFill>
              <a:srgbClr val="D86613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19" idx="1"/>
            <a:endCxn id="15" idx="3"/>
          </p:cNvCxnSpPr>
          <p:nvPr/>
        </p:nvCxnSpPr>
        <p:spPr>
          <a:xfrm flipH="1">
            <a:off x="1718729" y="1614830"/>
            <a:ext cx="5441137" cy="2339035"/>
          </a:xfrm>
          <a:prstGeom prst="bentConnector3">
            <a:avLst/>
          </a:prstGeom>
          <a:ln w="19050">
            <a:solidFill>
              <a:srgbClr val="DD344C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icon:amazon-cloudwatch" descr="imag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92035" y="2373782"/>
            <a:ext cx="526694" cy="52669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4718" y="2944368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Incident</a:t>
            </a:r>
          </a:p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(5xx / 지표)</a:t>
            </a:r>
          </a:p>
        </p:txBody>
      </p:sp>
      <p:pic>
        <p:nvPicPr>
          <p:cNvPr id="15" name="icon:amazon-q" descr="image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92035" y="3690518"/>
            <a:ext cx="526694" cy="52669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14718" y="4261104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SRE Agent</a:t>
            </a:r>
          </a:p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(Strands)</a:t>
            </a:r>
          </a:p>
        </p:txBody>
      </p:sp>
      <p:pic>
        <p:nvPicPr>
          <p:cNvPr id="17" name="icon:amazon-bedrock" descr="image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846767" y="3032150"/>
            <a:ext cx="526694" cy="52669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369450" y="3602736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Amazon Bedrock</a:t>
            </a:r>
          </a:p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(에이전트 LLM)</a:t>
            </a:r>
          </a:p>
        </p:txBody>
      </p:sp>
      <p:pic>
        <p:nvPicPr>
          <p:cNvPr id="19" name="icon:aws-lambda" descr="image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159866" y="1351483"/>
            <a:ext cx="526694" cy="52669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682550" y="1922069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Gate</a:t>
            </a:r>
          </a:p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before_tool_call</a:t>
            </a:r>
          </a:p>
        </p:txBody>
      </p:sp>
      <p:pic>
        <p:nvPicPr>
          <p:cNvPr id="21" name="icon:amazon-bedrock" descr="image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08230" y="3690518"/>
            <a:ext cx="526694" cy="52669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30913" y="4261104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Decider 2B</a:t>
            </a:r>
          </a:p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(로컬·MLX)</a:t>
            </a:r>
          </a:p>
        </p:txBody>
      </p:sp>
      <p:pic>
        <p:nvPicPr>
          <p:cNvPr id="23" name="icon:aws-identity-and-access-management-iam" descr="image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911503" y="3690518"/>
            <a:ext cx="526694" cy="52669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434186" y="4261104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Policy</a:t>
            </a:r>
          </a:p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(코드·임계값)</a:t>
            </a:r>
          </a:p>
        </p:txBody>
      </p:sp>
      <p:pic>
        <p:nvPicPr>
          <p:cNvPr id="25" name="icon:amazon-elastic-compute-cloud-amazon-ec2" descr="image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0472966" y="2373782"/>
            <a:ext cx="526694" cy="52669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995649" y="2944368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rollback</a:t>
            </a:r>
          </a:p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(bad deploy)</a:t>
            </a:r>
          </a:p>
        </p:txBody>
      </p:sp>
      <p:pic>
        <p:nvPicPr>
          <p:cNvPr id="27" name="icon:amazon-ec2-auto-scaling" descr="image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0472966" y="3690518"/>
            <a:ext cx="526694" cy="52669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95649" y="4261104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scale_out</a:t>
            </a:r>
          </a:p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(traffic surge)</a:t>
            </a:r>
          </a:p>
        </p:txBody>
      </p:sp>
      <p:sp>
        <p:nvSpPr>
          <p:cNvPr id="37" name="badge:1"/>
          <p:cNvSpPr/>
          <p:nvPr/>
        </p:nvSpPr>
        <p:spPr>
          <a:xfrm>
            <a:off x="1307249" y="3342132"/>
            <a:ext cx="296266" cy="296266"/>
          </a:xfrm>
          <a:prstGeom prst="ellipse">
            <a:avLst/>
          </a:prstGeom>
          <a:solidFill>
            <a:srgbClr val="232F3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맑은 고딕"/>
                <a:cs typeface="Arial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19974" y="3398825"/>
            <a:ext cx="574929" cy="201168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D8998"/>
                </a:solidFill>
                <a:latin typeface="Arial"/>
                <a:ea typeface="맑은 고딕"/>
                <a:cs typeface="Arial"/>
              </a:rPr>
              <a:t>장애 신호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72689" y="3990442"/>
            <a:ext cx="283464" cy="201168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D8998"/>
                </a:solidFill>
                <a:latin typeface="Arial"/>
                <a:ea typeface="맑은 고딕"/>
                <a:cs typeface="Arial"/>
              </a:rPr>
              <a:t>추론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78078" y="2690165"/>
            <a:ext cx="574929" cy="201168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D8998"/>
                </a:solidFill>
                <a:latin typeface="Arial"/>
                <a:ea typeface="맑은 고딕"/>
                <a:cs typeface="Arial"/>
              </a:rPr>
              <a:t>조치 제안</a:t>
            </a:r>
          </a:p>
        </p:txBody>
      </p:sp>
      <p:sp>
        <p:nvSpPr>
          <p:cNvPr id="41" name="badge:2"/>
          <p:cNvSpPr/>
          <p:nvPr/>
        </p:nvSpPr>
        <p:spPr>
          <a:xfrm>
            <a:off x="6523444" y="3186684"/>
            <a:ext cx="296266" cy="296266"/>
          </a:xfrm>
          <a:prstGeom prst="ellipse">
            <a:avLst/>
          </a:prstGeom>
          <a:solidFill>
            <a:srgbClr val="232F3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맑은 고딕"/>
                <a:cs typeface="Arial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6169" y="3243377"/>
            <a:ext cx="700659" cy="201168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D8998"/>
                </a:solidFill>
                <a:latin typeface="Arial"/>
                <a:ea typeface="맑은 고딕"/>
                <a:cs typeface="Arial"/>
              </a:rPr>
              <a:t>좁은 질문 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24332" y="3990442"/>
            <a:ext cx="397764" cy="201168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D8998"/>
                </a:solidFill>
                <a:latin typeface="Arial"/>
                <a:ea typeface="맑은 고딕"/>
                <a:cs typeface="Arial"/>
              </a:rPr>
              <a:t>확률값</a:t>
            </a:r>
          </a:p>
        </p:txBody>
      </p:sp>
      <p:sp>
        <p:nvSpPr>
          <p:cNvPr id="44" name="badge:3"/>
          <p:cNvSpPr/>
          <p:nvPr/>
        </p:nvSpPr>
        <p:spPr>
          <a:xfrm>
            <a:off x="9816141" y="2488997"/>
            <a:ext cx="296266" cy="296266"/>
          </a:xfrm>
          <a:prstGeom prst="ellipse">
            <a:avLst/>
          </a:prstGeom>
          <a:solidFill>
            <a:srgbClr val="232F3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맑은 고딕"/>
                <a:cs typeface="Arial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16814" y="2810866"/>
            <a:ext cx="494919" cy="201168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D8998"/>
                </a:solidFill>
                <a:latin typeface="Arial"/>
                <a:ea typeface="맑은 고딕"/>
                <a:cs typeface="Arial"/>
              </a:rPr>
              <a:t>Proceed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08122" y="3990442"/>
            <a:ext cx="494919" cy="201168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D8998"/>
                </a:solidFill>
                <a:latin typeface="Arial"/>
                <a:ea typeface="맑은 고딕"/>
                <a:cs typeface="Arial"/>
              </a:rPr>
              <a:t>Proceed</a:t>
            </a:r>
          </a:p>
        </p:txBody>
      </p:sp>
      <p:sp>
        <p:nvSpPr>
          <p:cNvPr id="47" name="badge:4"/>
          <p:cNvSpPr/>
          <p:nvPr/>
        </p:nvSpPr>
        <p:spPr>
          <a:xfrm>
            <a:off x="2930881" y="3805733"/>
            <a:ext cx="296266" cy="296266"/>
          </a:xfrm>
          <a:prstGeom prst="ellipse">
            <a:avLst/>
          </a:prstGeom>
          <a:solidFill>
            <a:srgbClr val="232F3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맑은 고딕"/>
                <a:cs typeface="Arial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40089" y="4127602"/>
            <a:ext cx="1077849" cy="201168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D8998"/>
                </a:solidFill>
                <a:latin typeface="Arial"/>
                <a:ea typeface="맑은 고딕"/>
                <a:cs typeface="Arial"/>
              </a:rPr>
              <a:t>Guide (근거 없음)</a:t>
            </a:r>
          </a:p>
        </p:txBody>
      </p:sp>
      <p:sp>
        <p:nvSpPr>
          <p:cNvPr id="49" name="legend"/>
          <p:cNvSpPr/>
          <p:nvPr/>
        </p:nvSpPr>
        <p:spPr>
          <a:xfrm>
            <a:off x="320040" y="6012180"/>
            <a:ext cx="1691640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605790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Flow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429768" y="6341364"/>
            <a:ext cx="457200" cy="0"/>
          </a:xfrm>
          <a:prstGeom prst="straightConnector1">
            <a:avLst/>
          </a:prstGeom>
          <a:ln w="19050">
            <a:solidFill>
              <a:srgbClr val="D86613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960120" y="625906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조치 제안 / 흐름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29768" y="6524244"/>
            <a:ext cx="457200" cy="0"/>
          </a:xfrm>
          <a:prstGeom prst="straightConnector1">
            <a:avLst/>
          </a:prstGeom>
          <a:ln w="19050">
            <a:solidFill>
              <a:srgbClr val="147EBA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60120" y="644194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분류 질문·응답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29768" y="6707124"/>
            <a:ext cx="457200" cy="0"/>
          </a:xfrm>
          <a:prstGeom prst="straightConnector1">
            <a:avLst/>
          </a:prstGeom>
          <a:ln w="19050">
            <a:solidFill>
              <a:srgbClr val="DD344C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960120" y="66248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Alert / Event</a:t>
            </a:r>
          </a:p>
        </p:txBody>
      </p:sp>
      <p:sp>
        <p:nvSpPr>
          <p:cNvPr id="57" name="badge:1"/>
          <p:cNvSpPr/>
          <p:nvPr/>
        </p:nvSpPr>
        <p:spPr>
          <a:xfrm>
            <a:off x="2295144" y="6199632"/>
            <a:ext cx="201168" cy="201168"/>
          </a:xfrm>
          <a:prstGeom prst="ellipse">
            <a:avLst/>
          </a:prstGeom>
          <a:solidFill>
            <a:srgbClr val="232F3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  <a:ea typeface="맑은 고딕"/>
                <a:cs typeface="Arial"/>
              </a:rPr>
              <a:t>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60320" y="6176772"/>
            <a:ext cx="44727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조치 제안  </a:t>
            </a:r>
          </a:p>
        </p:txBody>
      </p:sp>
      <p:sp>
        <p:nvSpPr>
          <p:cNvPr id="59" name="badge:2"/>
          <p:cNvSpPr/>
          <p:nvPr/>
        </p:nvSpPr>
        <p:spPr>
          <a:xfrm>
            <a:off x="2295144" y="6446520"/>
            <a:ext cx="201168" cy="201168"/>
          </a:xfrm>
          <a:prstGeom prst="ellipse">
            <a:avLst/>
          </a:prstGeom>
          <a:solidFill>
            <a:srgbClr val="232F3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  <a:ea typeface="맑은 고딕"/>
                <a:cs typeface="Arial"/>
              </a:rPr>
              <a:t>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560320" y="6423660"/>
            <a:ext cx="44727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분류 질문  </a:t>
            </a:r>
          </a:p>
        </p:txBody>
      </p:sp>
      <p:sp>
        <p:nvSpPr>
          <p:cNvPr id="61" name="badge:3"/>
          <p:cNvSpPr/>
          <p:nvPr/>
        </p:nvSpPr>
        <p:spPr>
          <a:xfrm>
            <a:off x="7087972" y="6199632"/>
            <a:ext cx="201168" cy="201168"/>
          </a:xfrm>
          <a:prstGeom prst="ellipse">
            <a:avLst/>
          </a:prstGeom>
          <a:solidFill>
            <a:srgbClr val="232F3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  <a:ea typeface="맑은 고딕"/>
                <a:cs typeface="Arial"/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53148" y="6176772"/>
            <a:ext cx="44727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코드가 판정  </a:t>
            </a:r>
          </a:p>
        </p:txBody>
      </p:sp>
      <p:sp>
        <p:nvSpPr>
          <p:cNvPr id="63" name="badge:4"/>
          <p:cNvSpPr/>
          <p:nvPr/>
        </p:nvSpPr>
        <p:spPr>
          <a:xfrm>
            <a:off x="7087972" y="6446520"/>
            <a:ext cx="201168" cy="201168"/>
          </a:xfrm>
          <a:prstGeom prst="ellipse">
            <a:avLst/>
          </a:prstGeom>
          <a:solidFill>
            <a:srgbClr val="232F3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  <a:ea typeface="맑은 고딕"/>
                <a:cs typeface="Arial"/>
              </a:rPr>
              <a:t>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53148" y="6423660"/>
            <a:ext cx="44727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되돌림(Guide) 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56032"/>
            <a:ext cx="115516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STEP 1 – 조치 제안</a:t>
            </a:r>
          </a:p>
        </p:txBody>
      </p:sp>
      <p:sp>
        <p:nvSpPr>
          <p:cNvPr id="3" name="group:generic"/>
          <p:cNvSpPr/>
          <p:nvPr/>
        </p:nvSpPr>
        <p:spPr>
          <a:xfrm>
            <a:off x="320040" y="868680"/>
            <a:ext cx="2270684" cy="5029200"/>
          </a:xfrm>
          <a:prstGeom prst="rect">
            <a:avLst/>
          </a:prstGeom>
          <a:noFill/>
          <a:ln w="15875">
            <a:solidFill>
              <a:srgbClr val="7D899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23544"/>
            <a:ext cx="227068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80" b="0">
                <a:solidFill>
                  <a:srgbClr val="7D8998"/>
                </a:solidFill>
                <a:latin typeface="Arial"/>
                <a:ea typeface="맑은 고딕"/>
                <a:cs typeface="Arial"/>
              </a:rPr>
              <a:t>Operations (On-call)</a:t>
            </a:r>
          </a:p>
        </p:txBody>
      </p:sp>
      <p:sp>
        <p:nvSpPr>
          <p:cNvPr id="5" name="group:aws-cloud"/>
          <p:cNvSpPr/>
          <p:nvPr/>
        </p:nvSpPr>
        <p:spPr>
          <a:xfrm>
            <a:off x="2974772" y="868680"/>
            <a:ext cx="2270684" cy="5029200"/>
          </a:xfrm>
          <a:prstGeom prst="rect">
            <a:avLst/>
          </a:prstGeom>
          <a:noFill/>
          <a:ln w="15875">
            <a:solidFill>
              <a:srgbClr val="232F3E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icon:group-aws-cloud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74772" y="868680"/>
            <a:ext cx="329184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69793" y="890626"/>
            <a:ext cx="182994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80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AWS Cloud</a:t>
            </a:r>
          </a:p>
        </p:txBody>
      </p:sp>
      <p:sp>
        <p:nvSpPr>
          <p:cNvPr id="8" name="group:highlight"/>
          <p:cNvSpPr/>
          <p:nvPr/>
        </p:nvSpPr>
        <p:spPr>
          <a:xfrm>
            <a:off x="5629504" y="868680"/>
            <a:ext cx="3587420" cy="5029200"/>
          </a:xfrm>
          <a:prstGeom prst="rect">
            <a:avLst/>
          </a:prstGeom>
          <a:solidFill>
            <a:srgbClr val="FFF7EE"/>
          </a:solidFill>
          <a:ln w="15875">
            <a:solidFill>
              <a:srgbClr val="ED71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17286" y="890626"/>
            <a:ext cx="345391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80" b="0">
                <a:solidFill>
                  <a:srgbClr val="ED7100"/>
                </a:solidFill>
                <a:latin typeface="Arial"/>
                <a:ea typeface="맑은 고딕"/>
                <a:cs typeface="Arial"/>
              </a:rPr>
              <a:t>DeciderGate  (before_tool_call · 로컬)</a:t>
            </a:r>
          </a:p>
        </p:txBody>
      </p:sp>
      <p:sp>
        <p:nvSpPr>
          <p:cNvPr id="10" name="group:generic"/>
          <p:cNvSpPr/>
          <p:nvPr/>
        </p:nvSpPr>
        <p:spPr>
          <a:xfrm>
            <a:off x="9600971" y="868680"/>
            <a:ext cx="2270684" cy="5029200"/>
          </a:xfrm>
          <a:prstGeom prst="rect">
            <a:avLst/>
          </a:prstGeom>
          <a:noFill/>
          <a:ln w="15875">
            <a:solidFill>
              <a:srgbClr val="7D899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0971" y="923544"/>
            <a:ext cx="227068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80" b="0">
                <a:solidFill>
                  <a:srgbClr val="7D8998"/>
                </a:solidFill>
                <a:latin typeface="Arial"/>
                <a:ea typeface="맑은 고딕"/>
                <a:cs typeface="Arial"/>
              </a:rPr>
              <a:t>Remediation</a:t>
            </a:r>
          </a:p>
        </p:txBody>
      </p:sp>
      <p:cxnSp>
        <p:nvCxnSpPr>
          <p:cNvPr id="28" name="Connector 27"/>
          <p:cNvCxnSpPr>
            <a:stCxn id="19" idx="2"/>
            <a:endCxn id="20" idx="0"/>
          </p:cNvCxnSpPr>
          <p:nvPr/>
        </p:nvCxnSpPr>
        <p:spPr>
          <a:xfrm rot="5400000">
            <a:off x="6335991" y="2603296"/>
            <a:ext cx="1422806" cy="751636"/>
          </a:xfrm>
          <a:prstGeom prst="bentConnector3">
            <a:avLst/>
          </a:prstGeom>
          <a:ln w="12700">
            <a:solidFill>
              <a:srgbClr val="D5D9DE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20" idx="3"/>
            <a:endCxn id="22" idx="1"/>
          </p:cNvCxnSpPr>
          <p:nvPr/>
        </p:nvCxnSpPr>
        <p:spPr>
          <a:xfrm>
            <a:off x="6934923" y="3953865"/>
            <a:ext cx="976579" cy="0"/>
          </a:xfrm>
          <a:prstGeom prst="straightConnector1">
            <a:avLst/>
          </a:prstGeom>
          <a:ln w="12700">
            <a:solidFill>
              <a:srgbClr val="D5D9DE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22" idx="3"/>
            <a:endCxn id="24" idx="1"/>
          </p:cNvCxnSpPr>
          <p:nvPr/>
        </p:nvCxnSpPr>
        <p:spPr>
          <a:xfrm flipV="1">
            <a:off x="8438197" y="2637129"/>
            <a:ext cx="2034768" cy="1316736"/>
          </a:xfrm>
          <a:prstGeom prst="bentConnector3">
            <a:avLst/>
          </a:prstGeom>
          <a:ln w="12700">
            <a:solidFill>
              <a:srgbClr val="D5D9DE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22" idx="3"/>
            <a:endCxn id="26" idx="1"/>
          </p:cNvCxnSpPr>
          <p:nvPr/>
        </p:nvCxnSpPr>
        <p:spPr>
          <a:xfrm>
            <a:off x="8438197" y="3953865"/>
            <a:ext cx="2034768" cy="0"/>
          </a:xfrm>
          <a:prstGeom prst="straightConnector1">
            <a:avLst/>
          </a:prstGeom>
          <a:ln w="12700">
            <a:solidFill>
              <a:srgbClr val="D5D9DE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8" idx="1"/>
            <a:endCxn id="14" idx="3"/>
          </p:cNvCxnSpPr>
          <p:nvPr/>
        </p:nvCxnSpPr>
        <p:spPr>
          <a:xfrm flipH="1">
            <a:off x="1718729" y="1614830"/>
            <a:ext cx="5441137" cy="2339035"/>
          </a:xfrm>
          <a:prstGeom prst="bentConnector3">
            <a:avLst/>
          </a:prstGeom>
          <a:ln w="12700">
            <a:solidFill>
              <a:srgbClr val="D5D9D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stCxn id="13" idx="2"/>
            <a:endCxn id="14" idx="0"/>
          </p:cNvCxnSpPr>
          <p:nvPr/>
        </p:nvCxnSpPr>
        <p:spPr>
          <a:xfrm>
            <a:off x="1455381" y="3290011"/>
            <a:ext cx="0" cy="400507"/>
          </a:xfrm>
          <a:prstGeom prst="straightConnector1">
            <a:avLst/>
          </a:prstGeom>
          <a:ln w="28575">
            <a:solidFill>
              <a:srgbClr val="D86613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14" idx="3"/>
            <a:endCxn id="17" idx="2"/>
          </p:cNvCxnSpPr>
          <p:nvPr/>
        </p:nvCxnSpPr>
        <p:spPr>
          <a:xfrm flipV="1">
            <a:off x="1718729" y="3948379"/>
            <a:ext cx="2391384" cy="5486"/>
          </a:xfrm>
          <a:prstGeom prst="bentConnector2">
            <a:avLst/>
          </a:prstGeom>
          <a:ln w="28575">
            <a:solidFill>
              <a:srgbClr val="D86613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16" idx="3"/>
            <a:endCxn id="19" idx="2"/>
          </p:cNvCxnSpPr>
          <p:nvPr/>
        </p:nvCxnSpPr>
        <p:spPr>
          <a:xfrm flipV="1">
            <a:off x="4373460" y="2267711"/>
            <a:ext cx="3049752" cy="1027785"/>
          </a:xfrm>
          <a:prstGeom prst="bentConnector2">
            <a:avLst/>
          </a:prstGeom>
          <a:ln w="28575">
            <a:solidFill>
              <a:srgbClr val="D86613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icon:amazon-cloudwatch" descr="imag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92035" y="2373782"/>
            <a:ext cx="526694" cy="52669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4718" y="2944368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Incident</a:t>
            </a:r>
          </a:p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(5xx / 지표)</a:t>
            </a:r>
          </a:p>
        </p:txBody>
      </p:sp>
      <p:pic>
        <p:nvPicPr>
          <p:cNvPr id="14" name="icon:amazon-q" descr="image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92035" y="3690518"/>
            <a:ext cx="526694" cy="52669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4718" y="4261104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SRE Agent</a:t>
            </a:r>
          </a:p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(Strands)</a:t>
            </a:r>
          </a:p>
        </p:txBody>
      </p:sp>
      <p:pic>
        <p:nvPicPr>
          <p:cNvPr id="16" name="icon:amazon-bedrock" descr="image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846767" y="3032150"/>
            <a:ext cx="526694" cy="52669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369450" y="3602736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Amazon Bedrock</a:t>
            </a:r>
          </a:p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(에이전트 LLM)</a:t>
            </a:r>
          </a:p>
        </p:txBody>
      </p:sp>
      <p:pic>
        <p:nvPicPr>
          <p:cNvPr id="18" name="icon:aws-lambda" descr="image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159866" y="1351483"/>
            <a:ext cx="526694" cy="52669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82550" y="1922069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Gate</a:t>
            </a:r>
          </a:p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before_tool_call</a:t>
            </a:r>
          </a:p>
        </p:txBody>
      </p:sp>
      <p:pic>
        <p:nvPicPr>
          <p:cNvPr id="20" name="icon:amazon-bedrock" descr="image.png"/>
          <p:cNvPicPr>
            <a:picLocks noChangeAspect="1"/>
          </p:cNvPicPr>
          <p:nvPr/>
        </p:nvPicPr>
        <p:blipFill>
          <a:blip r:embed="rId8">
            <a:alphaModFix amt="28000"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08230" y="3690518"/>
            <a:ext cx="526694" cy="52669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930913" y="4261104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B0B7C0"/>
                </a:solidFill>
                <a:latin typeface="Arial"/>
                <a:ea typeface="맑은 고딕"/>
                <a:cs typeface="Arial"/>
              </a:rPr>
              <a:t>Decider 2B</a:t>
            </a:r>
          </a:p>
          <a:p>
            <a:pPr algn="ctr"/>
            <a:r>
              <a:rPr sz="1019" b="0">
                <a:solidFill>
                  <a:srgbClr val="B0B7C0"/>
                </a:solidFill>
                <a:latin typeface="Arial"/>
                <a:ea typeface="맑은 고딕"/>
                <a:cs typeface="Arial"/>
              </a:rPr>
              <a:t>(로컬·MLX)</a:t>
            </a:r>
          </a:p>
        </p:txBody>
      </p:sp>
      <p:pic>
        <p:nvPicPr>
          <p:cNvPr id="22" name="icon:aws-identity-and-access-management-iam" descr="image.png"/>
          <p:cNvPicPr>
            <a:picLocks noChangeAspect="1"/>
          </p:cNvPicPr>
          <p:nvPr/>
        </p:nvPicPr>
        <p:blipFill>
          <a:blip r:embed="rId12">
            <a:alphaModFix amt="28000"/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911503" y="3690518"/>
            <a:ext cx="526694" cy="52669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434186" y="4261104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B0B7C0"/>
                </a:solidFill>
                <a:latin typeface="Arial"/>
                <a:ea typeface="맑은 고딕"/>
                <a:cs typeface="Arial"/>
              </a:rPr>
              <a:t>Policy</a:t>
            </a:r>
          </a:p>
          <a:p>
            <a:pPr algn="ctr"/>
            <a:r>
              <a:rPr sz="1019" b="0">
                <a:solidFill>
                  <a:srgbClr val="B0B7C0"/>
                </a:solidFill>
                <a:latin typeface="Arial"/>
                <a:ea typeface="맑은 고딕"/>
                <a:cs typeface="Arial"/>
              </a:rPr>
              <a:t>(코드·임계값)</a:t>
            </a:r>
          </a:p>
        </p:txBody>
      </p:sp>
      <p:pic>
        <p:nvPicPr>
          <p:cNvPr id="24" name="icon:amazon-elastic-compute-cloud-amazon-ec2" descr="image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0472966" y="2373782"/>
            <a:ext cx="526694" cy="52669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995649" y="2944368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rollback</a:t>
            </a:r>
          </a:p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(bad deploy)</a:t>
            </a:r>
          </a:p>
        </p:txBody>
      </p:sp>
      <p:pic>
        <p:nvPicPr>
          <p:cNvPr id="26" name="icon:amazon-ec2-auto-scaling" descr="image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0472966" y="3690518"/>
            <a:ext cx="526694" cy="52669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995649" y="4261104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scale_out</a:t>
            </a:r>
          </a:p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(traffic surge)</a:t>
            </a:r>
          </a:p>
        </p:txBody>
      </p:sp>
      <p:sp>
        <p:nvSpPr>
          <p:cNvPr id="36" name="badge:1"/>
          <p:cNvSpPr/>
          <p:nvPr/>
        </p:nvSpPr>
        <p:spPr>
          <a:xfrm>
            <a:off x="1307249" y="3342132"/>
            <a:ext cx="296266" cy="296266"/>
          </a:xfrm>
          <a:prstGeom prst="ellipse">
            <a:avLst/>
          </a:prstGeom>
          <a:solidFill>
            <a:srgbClr val="232F3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맑은 고딕"/>
                <a:cs typeface="Arial"/>
              </a:rP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19974" y="3398825"/>
            <a:ext cx="574929" cy="201168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D8998"/>
                </a:solidFill>
                <a:latin typeface="Arial"/>
                <a:ea typeface="맑은 고딕"/>
                <a:cs typeface="Arial"/>
              </a:rPr>
              <a:t>장애 신호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72689" y="3990442"/>
            <a:ext cx="283464" cy="201168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D8998"/>
                </a:solidFill>
                <a:latin typeface="Arial"/>
                <a:ea typeface="맑은 고딕"/>
                <a:cs typeface="Arial"/>
              </a:rPr>
              <a:t>추론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78078" y="2690165"/>
            <a:ext cx="574929" cy="201168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D8998"/>
                </a:solidFill>
                <a:latin typeface="Arial"/>
                <a:ea typeface="맑은 고딕"/>
                <a:cs typeface="Arial"/>
              </a:rPr>
              <a:t>조치 제안</a:t>
            </a:r>
          </a:p>
        </p:txBody>
      </p:sp>
      <p:sp>
        <p:nvSpPr>
          <p:cNvPr id="40" name="legend"/>
          <p:cNvSpPr/>
          <p:nvPr/>
        </p:nvSpPr>
        <p:spPr>
          <a:xfrm>
            <a:off x="320040" y="6012180"/>
            <a:ext cx="1691640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" y="605790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Flow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29768" y="6341364"/>
            <a:ext cx="457200" cy="0"/>
          </a:xfrm>
          <a:prstGeom prst="straightConnector1">
            <a:avLst/>
          </a:prstGeom>
          <a:ln w="19050">
            <a:solidFill>
              <a:srgbClr val="147EBA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60120" y="625906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분류 질문·응답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29768" y="6524244"/>
            <a:ext cx="457200" cy="0"/>
          </a:xfrm>
          <a:prstGeom prst="straightConnector1">
            <a:avLst/>
          </a:prstGeom>
          <a:ln w="19050">
            <a:solidFill>
              <a:srgbClr val="D86613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60120" y="644194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조치 제안 / 흐름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29768" y="6707124"/>
            <a:ext cx="457200" cy="0"/>
          </a:xfrm>
          <a:prstGeom prst="straightConnector1">
            <a:avLst/>
          </a:prstGeom>
          <a:ln w="19050">
            <a:solidFill>
              <a:srgbClr val="DD344C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960120" y="66248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Alert / Event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40280" y="6062472"/>
            <a:ext cx="9631375" cy="7223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6613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badge:1"/>
          <p:cNvSpPr/>
          <p:nvPr/>
        </p:nvSpPr>
        <p:spPr>
          <a:xfrm>
            <a:off x="2359152" y="6268212"/>
            <a:ext cx="310896" cy="310896"/>
          </a:xfrm>
          <a:prstGeom prst="ellipse">
            <a:avLst/>
          </a:prstGeom>
          <a:solidFill>
            <a:srgbClr val="232F3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맑은 고딕"/>
                <a:cs typeface="Arial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88920" y="6117336"/>
            <a:ext cx="8945575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장애 신호를 받은 SRE 에이전트가 Amazon Bedrock으로 추론해 rollback 또는 scale_out을 제안한다. 툴이 실행되기 직전 상태.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56032"/>
            <a:ext cx="115516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STEP 2 – 분류 질문</a:t>
            </a:r>
          </a:p>
        </p:txBody>
      </p:sp>
      <p:sp>
        <p:nvSpPr>
          <p:cNvPr id="3" name="group:generic"/>
          <p:cNvSpPr/>
          <p:nvPr/>
        </p:nvSpPr>
        <p:spPr>
          <a:xfrm>
            <a:off x="320040" y="868680"/>
            <a:ext cx="2270684" cy="5029200"/>
          </a:xfrm>
          <a:prstGeom prst="rect">
            <a:avLst/>
          </a:prstGeom>
          <a:noFill/>
          <a:ln w="15875">
            <a:solidFill>
              <a:srgbClr val="7D899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23544"/>
            <a:ext cx="227068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80" b="0">
                <a:solidFill>
                  <a:srgbClr val="7D8998"/>
                </a:solidFill>
                <a:latin typeface="Arial"/>
                <a:ea typeface="맑은 고딕"/>
                <a:cs typeface="Arial"/>
              </a:rPr>
              <a:t>Operations (On-call)</a:t>
            </a:r>
          </a:p>
        </p:txBody>
      </p:sp>
      <p:sp>
        <p:nvSpPr>
          <p:cNvPr id="5" name="group:aws-cloud"/>
          <p:cNvSpPr/>
          <p:nvPr/>
        </p:nvSpPr>
        <p:spPr>
          <a:xfrm>
            <a:off x="2974772" y="868680"/>
            <a:ext cx="2270684" cy="5029200"/>
          </a:xfrm>
          <a:prstGeom prst="rect">
            <a:avLst/>
          </a:prstGeom>
          <a:noFill/>
          <a:ln w="15875">
            <a:solidFill>
              <a:srgbClr val="232F3E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icon:group-aws-cloud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74772" y="868680"/>
            <a:ext cx="329184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69793" y="890626"/>
            <a:ext cx="182994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80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AWS Cloud</a:t>
            </a:r>
          </a:p>
        </p:txBody>
      </p:sp>
      <p:sp>
        <p:nvSpPr>
          <p:cNvPr id="8" name="group:highlight"/>
          <p:cNvSpPr/>
          <p:nvPr/>
        </p:nvSpPr>
        <p:spPr>
          <a:xfrm>
            <a:off x="5629504" y="868680"/>
            <a:ext cx="3587420" cy="5029200"/>
          </a:xfrm>
          <a:prstGeom prst="rect">
            <a:avLst/>
          </a:prstGeom>
          <a:solidFill>
            <a:srgbClr val="FFF7EE"/>
          </a:solidFill>
          <a:ln w="15875">
            <a:solidFill>
              <a:srgbClr val="ED71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17286" y="890626"/>
            <a:ext cx="345391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80" b="0">
                <a:solidFill>
                  <a:srgbClr val="ED7100"/>
                </a:solidFill>
                <a:latin typeface="Arial"/>
                <a:ea typeface="맑은 고딕"/>
                <a:cs typeface="Arial"/>
              </a:rPr>
              <a:t>DeciderGate  (before_tool_call · 로컬)</a:t>
            </a:r>
          </a:p>
        </p:txBody>
      </p:sp>
      <p:sp>
        <p:nvSpPr>
          <p:cNvPr id="10" name="group:generic"/>
          <p:cNvSpPr/>
          <p:nvPr/>
        </p:nvSpPr>
        <p:spPr>
          <a:xfrm>
            <a:off x="9600971" y="868680"/>
            <a:ext cx="2270684" cy="5029200"/>
          </a:xfrm>
          <a:prstGeom prst="rect">
            <a:avLst/>
          </a:prstGeom>
          <a:noFill/>
          <a:ln w="15875">
            <a:solidFill>
              <a:srgbClr val="7D899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0971" y="923544"/>
            <a:ext cx="227068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80" b="0">
                <a:solidFill>
                  <a:srgbClr val="7D8998"/>
                </a:solidFill>
                <a:latin typeface="Arial"/>
                <a:ea typeface="맑은 고딕"/>
                <a:cs typeface="Arial"/>
              </a:rPr>
              <a:t>Remediation</a:t>
            </a:r>
          </a:p>
        </p:txBody>
      </p:sp>
      <p:cxnSp>
        <p:nvCxnSpPr>
          <p:cNvPr id="28" name="Connector 27"/>
          <p:cNvCxnSpPr>
            <a:stCxn id="13" idx="2"/>
            <a:endCxn id="14" idx="0"/>
          </p:cNvCxnSpPr>
          <p:nvPr/>
        </p:nvCxnSpPr>
        <p:spPr>
          <a:xfrm>
            <a:off x="1455381" y="3290011"/>
            <a:ext cx="0" cy="400507"/>
          </a:xfrm>
          <a:prstGeom prst="straightConnector1">
            <a:avLst/>
          </a:prstGeom>
          <a:ln w="12700">
            <a:solidFill>
              <a:srgbClr val="D5D9DE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4" idx="3"/>
            <a:endCxn id="17" idx="2"/>
          </p:cNvCxnSpPr>
          <p:nvPr/>
        </p:nvCxnSpPr>
        <p:spPr>
          <a:xfrm flipV="1">
            <a:off x="1718729" y="3948379"/>
            <a:ext cx="2391384" cy="5486"/>
          </a:xfrm>
          <a:prstGeom prst="bentConnector2">
            <a:avLst/>
          </a:prstGeom>
          <a:ln w="12700">
            <a:solidFill>
              <a:srgbClr val="D5D9DE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6" idx="3"/>
            <a:endCxn id="19" idx="2"/>
          </p:cNvCxnSpPr>
          <p:nvPr/>
        </p:nvCxnSpPr>
        <p:spPr>
          <a:xfrm flipV="1">
            <a:off x="4373460" y="2267711"/>
            <a:ext cx="3049752" cy="1027785"/>
          </a:xfrm>
          <a:prstGeom prst="bentConnector2">
            <a:avLst/>
          </a:prstGeom>
          <a:ln w="12700">
            <a:solidFill>
              <a:srgbClr val="D5D9DE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22" idx="3"/>
            <a:endCxn id="24" idx="1"/>
          </p:cNvCxnSpPr>
          <p:nvPr/>
        </p:nvCxnSpPr>
        <p:spPr>
          <a:xfrm flipV="1">
            <a:off x="8438197" y="2637129"/>
            <a:ext cx="2034768" cy="1316736"/>
          </a:xfrm>
          <a:prstGeom prst="bentConnector3">
            <a:avLst/>
          </a:prstGeom>
          <a:ln w="12700">
            <a:solidFill>
              <a:srgbClr val="D5D9DE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22" idx="3"/>
            <a:endCxn id="26" idx="1"/>
          </p:cNvCxnSpPr>
          <p:nvPr/>
        </p:nvCxnSpPr>
        <p:spPr>
          <a:xfrm>
            <a:off x="8438197" y="3953865"/>
            <a:ext cx="2034768" cy="0"/>
          </a:xfrm>
          <a:prstGeom prst="straightConnector1">
            <a:avLst/>
          </a:prstGeom>
          <a:ln w="12700">
            <a:solidFill>
              <a:srgbClr val="D5D9DE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stCxn id="18" idx="1"/>
            <a:endCxn id="14" idx="3"/>
          </p:cNvCxnSpPr>
          <p:nvPr/>
        </p:nvCxnSpPr>
        <p:spPr>
          <a:xfrm flipH="1">
            <a:off x="1718729" y="1614830"/>
            <a:ext cx="5441137" cy="2339035"/>
          </a:xfrm>
          <a:prstGeom prst="bentConnector3">
            <a:avLst/>
          </a:prstGeom>
          <a:ln w="12700">
            <a:solidFill>
              <a:srgbClr val="D5D9D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19" idx="2"/>
            <a:endCxn id="20" idx="0"/>
          </p:cNvCxnSpPr>
          <p:nvPr/>
        </p:nvCxnSpPr>
        <p:spPr>
          <a:xfrm rot="5400000">
            <a:off x="6335991" y="2603296"/>
            <a:ext cx="1422806" cy="751636"/>
          </a:xfrm>
          <a:prstGeom prst="bentConnector3">
            <a:avLst/>
          </a:prstGeom>
          <a:ln w="28575">
            <a:solidFill>
              <a:srgbClr val="147EBA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20" idx="3"/>
            <a:endCxn id="22" idx="1"/>
          </p:cNvCxnSpPr>
          <p:nvPr/>
        </p:nvCxnSpPr>
        <p:spPr>
          <a:xfrm>
            <a:off x="6934923" y="3953865"/>
            <a:ext cx="976579" cy="0"/>
          </a:xfrm>
          <a:prstGeom prst="straightConnector1">
            <a:avLst/>
          </a:prstGeom>
          <a:ln w="28575">
            <a:solidFill>
              <a:srgbClr val="147EBA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icon:amazon-cloudwatch" descr="image.png"/>
          <p:cNvPicPr>
            <a:picLocks noChangeAspect="1"/>
          </p:cNvPicPr>
          <p:nvPr/>
        </p:nvPicPr>
        <p:blipFill>
          <a:blip r:embed="rId4">
            <a:alphaModFix amt="28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92035" y="2373782"/>
            <a:ext cx="526694" cy="52669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4718" y="2944368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B0B7C0"/>
                </a:solidFill>
                <a:latin typeface="Arial"/>
                <a:ea typeface="맑은 고딕"/>
                <a:cs typeface="Arial"/>
              </a:rPr>
              <a:t>Incident</a:t>
            </a:r>
          </a:p>
          <a:p>
            <a:pPr algn="ctr"/>
            <a:r>
              <a:rPr sz="1019" b="0">
                <a:solidFill>
                  <a:srgbClr val="B0B7C0"/>
                </a:solidFill>
                <a:latin typeface="Arial"/>
                <a:ea typeface="맑은 고딕"/>
                <a:cs typeface="Arial"/>
              </a:rPr>
              <a:t>(5xx / 지표)</a:t>
            </a:r>
          </a:p>
        </p:txBody>
      </p:sp>
      <p:pic>
        <p:nvPicPr>
          <p:cNvPr id="14" name="icon:amazon-q" descr="image.png"/>
          <p:cNvPicPr>
            <a:picLocks noChangeAspect="1"/>
          </p:cNvPicPr>
          <p:nvPr/>
        </p:nvPicPr>
        <p:blipFill>
          <a:blip r:embed="rId6">
            <a:alphaModFix amt="28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92035" y="3690518"/>
            <a:ext cx="526694" cy="52669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4718" y="4261104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B0B7C0"/>
                </a:solidFill>
                <a:latin typeface="Arial"/>
                <a:ea typeface="맑은 고딕"/>
                <a:cs typeface="Arial"/>
              </a:rPr>
              <a:t>SRE Agent</a:t>
            </a:r>
          </a:p>
          <a:p>
            <a:pPr algn="ctr"/>
            <a:r>
              <a:rPr sz="1019" b="0">
                <a:solidFill>
                  <a:srgbClr val="B0B7C0"/>
                </a:solidFill>
                <a:latin typeface="Arial"/>
                <a:ea typeface="맑은 고딕"/>
                <a:cs typeface="Arial"/>
              </a:rPr>
              <a:t>(Strands)</a:t>
            </a:r>
          </a:p>
        </p:txBody>
      </p:sp>
      <p:pic>
        <p:nvPicPr>
          <p:cNvPr id="16" name="icon:amazon-bedrock" descr="image.png"/>
          <p:cNvPicPr>
            <a:picLocks noChangeAspect="1"/>
          </p:cNvPicPr>
          <p:nvPr/>
        </p:nvPicPr>
        <p:blipFill>
          <a:blip r:embed="rId8">
            <a:alphaModFix amt="28000"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846767" y="3032150"/>
            <a:ext cx="526694" cy="52669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369450" y="3602736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B0B7C0"/>
                </a:solidFill>
                <a:latin typeface="Arial"/>
                <a:ea typeface="맑은 고딕"/>
                <a:cs typeface="Arial"/>
              </a:rPr>
              <a:t>Amazon Bedrock</a:t>
            </a:r>
          </a:p>
          <a:p>
            <a:pPr algn="ctr"/>
            <a:r>
              <a:rPr sz="1019" b="0">
                <a:solidFill>
                  <a:srgbClr val="B0B7C0"/>
                </a:solidFill>
                <a:latin typeface="Arial"/>
                <a:ea typeface="맑은 고딕"/>
                <a:cs typeface="Arial"/>
              </a:rPr>
              <a:t>(에이전트 LLM)</a:t>
            </a:r>
          </a:p>
        </p:txBody>
      </p:sp>
      <p:pic>
        <p:nvPicPr>
          <p:cNvPr id="18" name="icon:aws-lambda" descr="image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159866" y="1351483"/>
            <a:ext cx="526694" cy="52669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82550" y="1922069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Gate</a:t>
            </a:r>
          </a:p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before_tool_call</a:t>
            </a:r>
          </a:p>
        </p:txBody>
      </p:sp>
      <p:pic>
        <p:nvPicPr>
          <p:cNvPr id="20" name="icon:amazon-bedrock" descr="image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08230" y="3690518"/>
            <a:ext cx="526694" cy="52669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930913" y="4261104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Decider 2B</a:t>
            </a:r>
          </a:p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(로컬·MLX)</a:t>
            </a:r>
          </a:p>
        </p:txBody>
      </p:sp>
      <p:pic>
        <p:nvPicPr>
          <p:cNvPr id="22" name="icon:aws-identity-and-access-management-iam" descr="image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911503" y="3690518"/>
            <a:ext cx="526694" cy="52669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434186" y="4261104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Policy</a:t>
            </a:r>
          </a:p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(코드·임계값)</a:t>
            </a:r>
          </a:p>
        </p:txBody>
      </p:sp>
      <p:pic>
        <p:nvPicPr>
          <p:cNvPr id="24" name="icon:amazon-elastic-compute-cloud-amazon-ec2" descr="image.png"/>
          <p:cNvPicPr>
            <a:picLocks noChangeAspect="1"/>
          </p:cNvPicPr>
          <p:nvPr/>
        </p:nvPicPr>
        <p:blipFill>
          <a:blip r:embed="rId14">
            <a:alphaModFix amt="28000"/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0472966" y="2373782"/>
            <a:ext cx="526694" cy="52669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995649" y="2944368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B0B7C0"/>
                </a:solidFill>
                <a:latin typeface="Arial"/>
                <a:ea typeface="맑은 고딕"/>
                <a:cs typeface="Arial"/>
              </a:rPr>
              <a:t>rollback</a:t>
            </a:r>
          </a:p>
          <a:p>
            <a:pPr algn="ctr"/>
            <a:r>
              <a:rPr sz="1019" b="0">
                <a:solidFill>
                  <a:srgbClr val="B0B7C0"/>
                </a:solidFill>
                <a:latin typeface="Arial"/>
                <a:ea typeface="맑은 고딕"/>
                <a:cs typeface="Arial"/>
              </a:rPr>
              <a:t>(bad deploy)</a:t>
            </a:r>
          </a:p>
        </p:txBody>
      </p:sp>
      <p:pic>
        <p:nvPicPr>
          <p:cNvPr id="26" name="icon:amazon-ec2-auto-scaling" descr="image.png"/>
          <p:cNvPicPr>
            <a:picLocks noChangeAspect="1"/>
          </p:cNvPicPr>
          <p:nvPr/>
        </p:nvPicPr>
        <p:blipFill>
          <a:blip r:embed="rId16">
            <a:alphaModFix amt="28000"/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0472966" y="3690518"/>
            <a:ext cx="526694" cy="52669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995649" y="4261104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B0B7C0"/>
                </a:solidFill>
                <a:latin typeface="Arial"/>
                <a:ea typeface="맑은 고딕"/>
                <a:cs typeface="Arial"/>
              </a:rPr>
              <a:t>scale_out</a:t>
            </a:r>
          </a:p>
          <a:p>
            <a:pPr algn="ctr"/>
            <a:r>
              <a:rPr sz="1019" b="0">
                <a:solidFill>
                  <a:srgbClr val="B0B7C0"/>
                </a:solidFill>
                <a:latin typeface="Arial"/>
                <a:ea typeface="맑은 고딕"/>
                <a:cs typeface="Arial"/>
              </a:rPr>
              <a:t>(traffic surge)</a:t>
            </a:r>
          </a:p>
        </p:txBody>
      </p:sp>
      <p:sp>
        <p:nvSpPr>
          <p:cNvPr id="36" name="badge:2"/>
          <p:cNvSpPr/>
          <p:nvPr/>
        </p:nvSpPr>
        <p:spPr>
          <a:xfrm>
            <a:off x="6523444" y="3186684"/>
            <a:ext cx="296266" cy="296266"/>
          </a:xfrm>
          <a:prstGeom prst="ellipse">
            <a:avLst/>
          </a:prstGeom>
          <a:solidFill>
            <a:srgbClr val="232F3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맑은 고딕"/>
                <a:cs typeface="Arial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36169" y="3243377"/>
            <a:ext cx="700659" cy="201168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D8998"/>
                </a:solidFill>
                <a:latin typeface="Arial"/>
                <a:ea typeface="맑은 고딕"/>
                <a:cs typeface="Arial"/>
              </a:rPr>
              <a:t>좁은 질문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4332" y="3990442"/>
            <a:ext cx="397764" cy="201168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D8998"/>
                </a:solidFill>
                <a:latin typeface="Arial"/>
                <a:ea typeface="맑은 고딕"/>
                <a:cs typeface="Arial"/>
              </a:rPr>
              <a:t>확률값</a:t>
            </a:r>
          </a:p>
        </p:txBody>
      </p:sp>
      <p:sp>
        <p:nvSpPr>
          <p:cNvPr id="39" name="legend"/>
          <p:cNvSpPr/>
          <p:nvPr/>
        </p:nvSpPr>
        <p:spPr>
          <a:xfrm>
            <a:off x="320040" y="6012180"/>
            <a:ext cx="1691640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05790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Flow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29768" y="6341364"/>
            <a:ext cx="457200" cy="0"/>
          </a:xfrm>
          <a:prstGeom prst="straightConnector1">
            <a:avLst/>
          </a:prstGeom>
          <a:ln w="19050">
            <a:solidFill>
              <a:srgbClr val="D86613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60120" y="625906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조치 제안 / 흐름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29768" y="6524244"/>
            <a:ext cx="457200" cy="0"/>
          </a:xfrm>
          <a:prstGeom prst="straightConnector1">
            <a:avLst/>
          </a:prstGeom>
          <a:ln w="19050">
            <a:solidFill>
              <a:srgbClr val="DD344C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60120" y="644194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Alert / Event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29768" y="6707124"/>
            <a:ext cx="457200" cy="0"/>
          </a:xfrm>
          <a:prstGeom prst="straightConnector1">
            <a:avLst/>
          </a:prstGeom>
          <a:ln w="19050">
            <a:solidFill>
              <a:srgbClr val="147EBA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960120" y="66248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분류 질문·응답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240280" y="6062472"/>
            <a:ext cx="9631375" cy="7223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6613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badge:2"/>
          <p:cNvSpPr/>
          <p:nvPr/>
        </p:nvSpPr>
        <p:spPr>
          <a:xfrm>
            <a:off x="2359152" y="6268212"/>
            <a:ext cx="310896" cy="310896"/>
          </a:xfrm>
          <a:prstGeom prst="ellipse">
            <a:avLst/>
          </a:prstGeom>
          <a:solidFill>
            <a:srgbClr val="232F3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맑은 고딕"/>
                <a:cs typeface="Arial"/>
              </a:rP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88920" y="6117336"/>
            <a:ext cx="8945575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before_tool_call 가드가 조치를 가로채, 로컬 Decider 2B에 좁은 yes/no·분류 질문 3개(원인·반복 여부·의존성 포화)를 보낸다. 모델은 결정하지 않고 분류만 한다.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56032"/>
            <a:ext cx="115516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STEP 3 – 코드가 판정</a:t>
            </a:r>
          </a:p>
        </p:txBody>
      </p:sp>
      <p:sp>
        <p:nvSpPr>
          <p:cNvPr id="3" name="group:generic"/>
          <p:cNvSpPr/>
          <p:nvPr/>
        </p:nvSpPr>
        <p:spPr>
          <a:xfrm>
            <a:off x="320040" y="868680"/>
            <a:ext cx="2270684" cy="5029200"/>
          </a:xfrm>
          <a:prstGeom prst="rect">
            <a:avLst/>
          </a:prstGeom>
          <a:noFill/>
          <a:ln w="15875">
            <a:solidFill>
              <a:srgbClr val="7D899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23544"/>
            <a:ext cx="227068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80" b="0">
                <a:solidFill>
                  <a:srgbClr val="7D8998"/>
                </a:solidFill>
                <a:latin typeface="Arial"/>
                <a:ea typeface="맑은 고딕"/>
                <a:cs typeface="Arial"/>
              </a:rPr>
              <a:t>Operations (On-call)</a:t>
            </a:r>
          </a:p>
        </p:txBody>
      </p:sp>
      <p:sp>
        <p:nvSpPr>
          <p:cNvPr id="5" name="group:aws-cloud"/>
          <p:cNvSpPr/>
          <p:nvPr/>
        </p:nvSpPr>
        <p:spPr>
          <a:xfrm>
            <a:off x="2974772" y="868680"/>
            <a:ext cx="2270684" cy="5029200"/>
          </a:xfrm>
          <a:prstGeom prst="rect">
            <a:avLst/>
          </a:prstGeom>
          <a:noFill/>
          <a:ln w="15875">
            <a:solidFill>
              <a:srgbClr val="232F3E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icon:group-aws-cloud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74772" y="868680"/>
            <a:ext cx="329184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69793" y="890626"/>
            <a:ext cx="182994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80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AWS Cloud</a:t>
            </a:r>
          </a:p>
        </p:txBody>
      </p:sp>
      <p:sp>
        <p:nvSpPr>
          <p:cNvPr id="8" name="group:highlight"/>
          <p:cNvSpPr/>
          <p:nvPr/>
        </p:nvSpPr>
        <p:spPr>
          <a:xfrm>
            <a:off x="5629504" y="868680"/>
            <a:ext cx="3587420" cy="5029200"/>
          </a:xfrm>
          <a:prstGeom prst="rect">
            <a:avLst/>
          </a:prstGeom>
          <a:solidFill>
            <a:srgbClr val="FFF7EE"/>
          </a:solidFill>
          <a:ln w="15875">
            <a:solidFill>
              <a:srgbClr val="ED71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17286" y="890626"/>
            <a:ext cx="345391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80" b="0">
                <a:solidFill>
                  <a:srgbClr val="ED7100"/>
                </a:solidFill>
                <a:latin typeface="Arial"/>
                <a:ea typeface="맑은 고딕"/>
                <a:cs typeface="Arial"/>
              </a:rPr>
              <a:t>DeciderGate  (before_tool_call · 로컬)</a:t>
            </a:r>
          </a:p>
        </p:txBody>
      </p:sp>
      <p:sp>
        <p:nvSpPr>
          <p:cNvPr id="10" name="group:generic"/>
          <p:cNvSpPr/>
          <p:nvPr/>
        </p:nvSpPr>
        <p:spPr>
          <a:xfrm>
            <a:off x="9600971" y="868680"/>
            <a:ext cx="2270684" cy="5029200"/>
          </a:xfrm>
          <a:prstGeom prst="rect">
            <a:avLst/>
          </a:prstGeom>
          <a:noFill/>
          <a:ln w="15875">
            <a:solidFill>
              <a:srgbClr val="7D899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0971" y="923544"/>
            <a:ext cx="227068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80" b="0">
                <a:solidFill>
                  <a:srgbClr val="7D8998"/>
                </a:solidFill>
                <a:latin typeface="Arial"/>
                <a:ea typeface="맑은 고딕"/>
                <a:cs typeface="Arial"/>
              </a:rPr>
              <a:t>Remediation</a:t>
            </a:r>
          </a:p>
        </p:txBody>
      </p:sp>
      <p:cxnSp>
        <p:nvCxnSpPr>
          <p:cNvPr id="28" name="Connector 27"/>
          <p:cNvCxnSpPr>
            <a:stCxn id="13" idx="2"/>
            <a:endCxn id="14" idx="0"/>
          </p:cNvCxnSpPr>
          <p:nvPr/>
        </p:nvCxnSpPr>
        <p:spPr>
          <a:xfrm>
            <a:off x="1455381" y="3290011"/>
            <a:ext cx="0" cy="400507"/>
          </a:xfrm>
          <a:prstGeom prst="straightConnector1">
            <a:avLst/>
          </a:prstGeom>
          <a:ln w="12700">
            <a:solidFill>
              <a:srgbClr val="D5D9DE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4" idx="3"/>
            <a:endCxn id="17" idx="2"/>
          </p:cNvCxnSpPr>
          <p:nvPr/>
        </p:nvCxnSpPr>
        <p:spPr>
          <a:xfrm flipV="1">
            <a:off x="1718729" y="3948379"/>
            <a:ext cx="2391384" cy="5486"/>
          </a:xfrm>
          <a:prstGeom prst="bentConnector2">
            <a:avLst/>
          </a:prstGeom>
          <a:ln w="12700">
            <a:solidFill>
              <a:srgbClr val="D5D9DE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6" idx="3"/>
            <a:endCxn id="19" idx="2"/>
          </p:cNvCxnSpPr>
          <p:nvPr/>
        </p:nvCxnSpPr>
        <p:spPr>
          <a:xfrm flipV="1">
            <a:off x="4373460" y="2267711"/>
            <a:ext cx="3049752" cy="1027785"/>
          </a:xfrm>
          <a:prstGeom prst="bentConnector2">
            <a:avLst/>
          </a:prstGeom>
          <a:ln w="12700">
            <a:solidFill>
              <a:srgbClr val="D5D9DE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9" idx="2"/>
            <a:endCxn id="20" idx="0"/>
          </p:cNvCxnSpPr>
          <p:nvPr/>
        </p:nvCxnSpPr>
        <p:spPr>
          <a:xfrm rot="5400000">
            <a:off x="6335991" y="2603296"/>
            <a:ext cx="1422806" cy="751636"/>
          </a:xfrm>
          <a:prstGeom prst="bentConnector3">
            <a:avLst/>
          </a:prstGeom>
          <a:ln w="12700">
            <a:solidFill>
              <a:srgbClr val="D5D9DE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20" idx="3"/>
            <a:endCxn id="22" idx="1"/>
          </p:cNvCxnSpPr>
          <p:nvPr/>
        </p:nvCxnSpPr>
        <p:spPr>
          <a:xfrm>
            <a:off x="6934923" y="3953865"/>
            <a:ext cx="976579" cy="0"/>
          </a:xfrm>
          <a:prstGeom prst="straightConnector1">
            <a:avLst/>
          </a:prstGeom>
          <a:ln w="12700">
            <a:solidFill>
              <a:srgbClr val="D5D9DE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stCxn id="18" idx="1"/>
            <a:endCxn id="14" idx="3"/>
          </p:cNvCxnSpPr>
          <p:nvPr/>
        </p:nvCxnSpPr>
        <p:spPr>
          <a:xfrm flipH="1">
            <a:off x="1718729" y="1614830"/>
            <a:ext cx="5441137" cy="2339035"/>
          </a:xfrm>
          <a:prstGeom prst="bentConnector3">
            <a:avLst/>
          </a:prstGeom>
          <a:ln w="12700">
            <a:solidFill>
              <a:srgbClr val="D5D9D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22" idx="3"/>
            <a:endCxn id="24" idx="1"/>
          </p:cNvCxnSpPr>
          <p:nvPr/>
        </p:nvCxnSpPr>
        <p:spPr>
          <a:xfrm flipV="1">
            <a:off x="8438197" y="2637129"/>
            <a:ext cx="2034768" cy="1316736"/>
          </a:xfrm>
          <a:prstGeom prst="bentConnector3">
            <a:avLst/>
          </a:prstGeom>
          <a:ln w="28575">
            <a:solidFill>
              <a:srgbClr val="D86613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22" idx="3"/>
            <a:endCxn id="26" idx="1"/>
          </p:cNvCxnSpPr>
          <p:nvPr/>
        </p:nvCxnSpPr>
        <p:spPr>
          <a:xfrm>
            <a:off x="8438197" y="3953865"/>
            <a:ext cx="2034768" cy="0"/>
          </a:xfrm>
          <a:prstGeom prst="straightConnector1">
            <a:avLst/>
          </a:prstGeom>
          <a:ln w="28575">
            <a:solidFill>
              <a:srgbClr val="D86613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icon:amazon-cloudwatch" descr="image.png"/>
          <p:cNvPicPr>
            <a:picLocks noChangeAspect="1"/>
          </p:cNvPicPr>
          <p:nvPr/>
        </p:nvPicPr>
        <p:blipFill>
          <a:blip r:embed="rId4">
            <a:alphaModFix amt="28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92035" y="2373782"/>
            <a:ext cx="526694" cy="52669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4718" y="2944368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B0B7C0"/>
                </a:solidFill>
                <a:latin typeface="Arial"/>
                <a:ea typeface="맑은 고딕"/>
                <a:cs typeface="Arial"/>
              </a:rPr>
              <a:t>Incident</a:t>
            </a:r>
          </a:p>
          <a:p>
            <a:pPr algn="ctr"/>
            <a:r>
              <a:rPr sz="1019" b="0">
                <a:solidFill>
                  <a:srgbClr val="B0B7C0"/>
                </a:solidFill>
                <a:latin typeface="Arial"/>
                <a:ea typeface="맑은 고딕"/>
                <a:cs typeface="Arial"/>
              </a:rPr>
              <a:t>(5xx / 지표)</a:t>
            </a:r>
          </a:p>
        </p:txBody>
      </p:sp>
      <p:pic>
        <p:nvPicPr>
          <p:cNvPr id="14" name="icon:amazon-q" descr="image.png"/>
          <p:cNvPicPr>
            <a:picLocks noChangeAspect="1"/>
          </p:cNvPicPr>
          <p:nvPr/>
        </p:nvPicPr>
        <p:blipFill>
          <a:blip r:embed="rId6">
            <a:alphaModFix amt="28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92035" y="3690518"/>
            <a:ext cx="526694" cy="52669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4718" y="4261104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B0B7C0"/>
                </a:solidFill>
                <a:latin typeface="Arial"/>
                <a:ea typeface="맑은 고딕"/>
                <a:cs typeface="Arial"/>
              </a:rPr>
              <a:t>SRE Agent</a:t>
            </a:r>
          </a:p>
          <a:p>
            <a:pPr algn="ctr"/>
            <a:r>
              <a:rPr sz="1019" b="0">
                <a:solidFill>
                  <a:srgbClr val="B0B7C0"/>
                </a:solidFill>
                <a:latin typeface="Arial"/>
                <a:ea typeface="맑은 고딕"/>
                <a:cs typeface="Arial"/>
              </a:rPr>
              <a:t>(Strands)</a:t>
            </a:r>
          </a:p>
        </p:txBody>
      </p:sp>
      <p:pic>
        <p:nvPicPr>
          <p:cNvPr id="16" name="icon:amazon-bedrock" descr="image.png"/>
          <p:cNvPicPr>
            <a:picLocks noChangeAspect="1"/>
          </p:cNvPicPr>
          <p:nvPr/>
        </p:nvPicPr>
        <p:blipFill>
          <a:blip r:embed="rId8">
            <a:alphaModFix amt="28000"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846767" y="3032150"/>
            <a:ext cx="526694" cy="52669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369450" y="3602736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B0B7C0"/>
                </a:solidFill>
                <a:latin typeface="Arial"/>
                <a:ea typeface="맑은 고딕"/>
                <a:cs typeface="Arial"/>
              </a:rPr>
              <a:t>Amazon Bedrock</a:t>
            </a:r>
          </a:p>
          <a:p>
            <a:pPr algn="ctr"/>
            <a:r>
              <a:rPr sz="1019" b="0">
                <a:solidFill>
                  <a:srgbClr val="B0B7C0"/>
                </a:solidFill>
                <a:latin typeface="Arial"/>
                <a:ea typeface="맑은 고딕"/>
                <a:cs typeface="Arial"/>
              </a:rPr>
              <a:t>(에이전트 LLM)</a:t>
            </a:r>
          </a:p>
        </p:txBody>
      </p:sp>
      <p:pic>
        <p:nvPicPr>
          <p:cNvPr id="18" name="icon:aws-lambda" descr="image.png"/>
          <p:cNvPicPr>
            <a:picLocks noChangeAspect="1"/>
          </p:cNvPicPr>
          <p:nvPr/>
        </p:nvPicPr>
        <p:blipFill>
          <a:blip r:embed="rId10">
            <a:alphaModFix amt="28000"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159866" y="1351483"/>
            <a:ext cx="526694" cy="52669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82550" y="1922069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B0B7C0"/>
                </a:solidFill>
                <a:latin typeface="Arial"/>
                <a:ea typeface="맑은 고딕"/>
                <a:cs typeface="Arial"/>
              </a:rPr>
              <a:t>Gate</a:t>
            </a:r>
          </a:p>
          <a:p>
            <a:pPr algn="ctr"/>
            <a:r>
              <a:rPr sz="1019" b="0">
                <a:solidFill>
                  <a:srgbClr val="B0B7C0"/>
                </a:solidFill>
                <a:latin typeface="Arial"/>
                <a:ea typeface="맑은 고딕"/>
                <a:cs typeface="Arial"/>
              </a:rPr>
              <a:t>before_tool_call</a:t>
            </a:r>
          </a:p>
        </p:txBody>
      </p:sp>
      <p:pic>
        <p:nvPicPr>
          <p:cNvPr id="20" name="icon:amazon-bedrock" descr="image.png"/>
          <p:cNvPicPr>
            <a:picLocks noChangeAspect="1"/>
          </p:cNvPicPr>
          <p:nvPr/>
        </p:nvPicPr>
        <p:blipFill>
          <a:blip r:embed="rId8">
            <a:alphaModFix amt="28000"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08230" y="3690518"/>
            <a:ext cx="526694" cy="52669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930913" y="4261104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B0B7C0"/>
                </a:solidFill>
                <a:latin typeface="Arial"/>
                <a:ea typeface="맑은 고딕"/>
                <a:cs typeface="Arial"/>
              </a:rPr>
              <a:t>Decider 2B</a:t>
            </a:r>
          </a:p>
          <a:p>
            <a:pPr algn="ctr"/>
            <a:r>
              <a:rPr sz="1019" b="0">
                <a:solidFill>
                  <a:srgbClr val="B0B7C0"/>
                </a:solidFill>
                <a:latin typeface="Arial"/>
                <a:ea typeface="맑은 고딕"/>
                <a:cs typeface="Arial"/>
              </a:rPr>
              <a:t>(로컬·MLX)</a:t>
            </a:r>
          </a:p>
        </p:txBody>
      </p:sp>
      <p:pic>
        <p:nvPicPr>
          <p:cNvPr id="22" name="icon:aws-identity-and-access-management-iam" descr="image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911503" y="3690518"/>
            <a:ext cx="526694" cy="52669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434186" y="4261104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Policy</a:t>
            </a:r>
          </a:p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(코드·임계값)</a:t>
            </a:r>
          </a:p>
        </p:txBody>
      </p:sp>
      <p:pic>
        <p:nvPicPr>
          <p:cNvPr id="24" name="icon:amazon-elastic-compute-cloud-amazon-ec2" descr="image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0472966" y="2373782"/>
            <a:ext cx="526694" cy="52669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995649" y="2944368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rollback</a:t>
            </a:r>
          </a:p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(bad deploy)</a:t>
            </a:r>
          </a:p>
        </p:txBody>
      </p:sp>
      <p:pic>
        <p:nvPicPr>
          <p:cNvPr id="26" name="icon:amazon-ec2-auto-scaling" descr="image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0472966" y="3690518"/>
            <a:ext cx="526694" cy="52669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995649" y="4261104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scale_out</a:t>
            </a:r>
          </a:p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(traffic surge)</a:t>
            </a:r>
          </a:p>
        </p:txBody>
      </p:sp>
      <p:sp>
        <p:nvSpPr>
          <p:cNvPr id="36" name="badge:3"/>
          <p:cNvSpPr/>
          <p:nvPr/>
        </p:nvSpPr>
        <p:spPr>
          <a:xfrm>
            <a:off x="9816141" y="2488997"/>
            <a:ext cx="296266" cy="296266"/>
          </a:xfrm>
          <a:prstGeom prst="ellipse">
            <a:avLst/>
          </a:prstGeom>
          <a:solidFill>
            <a:srgbClr val="232F3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맑은 고딕"/>
                <a:cs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16814" y="2810866"/>
            <a:ext cx="494919" cy="201168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D8998"/>
                </a:solidFill>
                <a:latin typeface="Arial"/>
                <a:ea typeface="맑은 고딕"/>
                <a:cs typeface="Arial"/>
              </a:rPr>
              <a:t>Proceed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08122" y="3990442"/>
            <a:ext cx="494919" cy="201168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D8998"/>
                </a:solidFill>
                <a:latin typeface="Arial"/>
                <a:ea typeface="맑은 고딕"/>
                <a:cs typeface="Arial"/>
              </a:rPr>
              <a:t>Proceed</a:t>
            </a:r>
          </a:p>
        </p:txBody>
      </p:sp>
      <p:sp>
        <p:nvSpPr>
          <p:cNvPr id="39" name="legend"/>
          <p:cNvSpPr/>
          <p:nvPr/>
        </p:nvSpPr>
        <p:spPr>
          <a:xfrm>
            <a:off x="320040" y="6012180"/>
            <a:ext cx="1691640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05790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Flow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29768" y="6341364"/>
            <a:ext cx="457200" cy="0"/>
          </a:xfrm>
          <a:prstGeom prst="straightConnector1">
            <a:avLst/>
          </a:prstGeom>
          <a:ln w="19050">
            <a:solidFill>
              <a:srgbClr val="D86613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60120" y="625906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조치 제안 / 흐름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29768" y="6524244"/>
            <a:ext cx="457200" cy="0"/>
          </a:xfrm>
          <a:prstGeom prst="straightConnector1">
            <a:avLst/>
          </a:prstGeom>
          <a:ln w="19050">
            <a:solidFill>
              <a:srgbClr val="147EBA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60120" y="644194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분류 질문·응답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29768" y="6707124"/>
            <a:ext cx="457200" cy="0"/>
          </a:xfrm>
          <a:prstGeom prst="straightConnector1">
            <a:avLst/>
          </a:prstGeom>
          <a:ln w="19050">
            <a:solidFill>
              <a:srgbClr val="DD344C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960120" y="66248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Alert / Event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240280" y="6062472"/>
            <a:ext cx="9631375" cy="7223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6613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badge:3"/>
          <p:cNvSpPr/>
          <p:nvPr/>
        </p:nvSpPr>
        <p:spPr>
          <a:xfrm>
            <a:off x="2359152" y="6268212"/>
            <a:ext cx="310896" cy="310896"/>
          </a:xfrm>
          <a:prstGeom prst="ellipse">
            <a:avLst/>
          </a:prstGeom>
          <a:solidFill>
            <a:srgbClr val="232F3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맑은 고딕"/>
                <a:cs typeface="Arial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88920" y="6117336"/>
            <a:ext cx="8945575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Policy(코드)가 확률값과 임계값으로 Proceed/Block을 결정한다. 근거가 맞으면 Proceed로 조치를 실행한다. ~134ms·호출당 $0(로컬).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56032"/>
            <a:ext cx="115516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STEP 4 – 되돌림(Guide)</a:t>
            </a:r>
          </a:p>
        </p:txBody>
      </p:sp>
      <p:sp>
        <p:nvSpPr>
          <p:cNvPr id="3" name="group:generic"/>
          <p:cNvSpPr/>
          <p:nvPr/>
        </p:nvSpPr>
        <p:spPr>
          <a:xfrm>
            <a:off x="320040" y="868680"/>
            <a:ext cx="2270684" cy="5029200"/>
          </a:xfrm>
          <a:prstGeom prst="rect">
            <a:avLst/>
          </a:prstGeom>
          <a:noFill/>
          <a:ln w="15875">
            <a:solidFill>
              <a:srgbClr val="7D899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23544"/>
            <a:ext cx="227068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80" b="0">
                <a:solidFill>
                  <a:srgbClr val="7D8998"/>
                </a:solidFill>
                <a:latin typeface="Arial"/>
                <a:ea typeface="맑은 고딕"/>
                <a:cs typeface="Arial"/>
              </a:rPr>
              <a:t>Operations (On-call)</a:t>
            </a:r>
          </a:p>
        </p:txBody>
      </p:sp>
      <p:sp>
        <p:nvSpPr>
          <p:cNvPr id="5" name="group:aws-cloud"/>
          <p:cNvSpPr/>
          <p:nvPr/>
        </p:nvSpPr>
        <p:spPr>
          <a:xfrm>
            <a:off x="2974772" y="868680"/>
            <a:ext cx="2270684" cy="5029200"/>
          </a:xfrm>
          <a:prstGeom prst="rect">
            <a:avLst/>
          </a:prstGeom>
          <a:noFill/>
          <a:ln w="15875">
            <a:solidFill>
              <a:srgbClr val="232F3E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icon:group-aws-cloud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74772" y="868680"/>
            <a:ext cx="329184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69793" y="890626"/>
            <a:ext cx="182994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80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AWS Cloud</a:t>
            </a:r>
          </a:p>
        </p:txBody>
      </p:sp>
      <p:sp>
        <p:nvSpPr>
          <p:cNvPr id="8" name="group:highlight"/>
          <p:cNvSpPr/>
          <p:nvPr/>
        </p:nvSpPr>
        <p:spPr>
          <a:xfrm>
            <a:off x="5629504" y="868680"/>
            <a:ext cx="3587420" cy="5029200"/>
          </a:xfrm>
          <a:prstGeom prst="rect">
            <a:avLst/>
          </a:prstGeom>
          <a:solidFill>
            <a:srgbClr val="FFF7EE"/>
          </a:solidFill>
          <a:ln w="15875">
            <a:solidFill>
              <a:srgbClr val="ED71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17286" y="890626"/>
            <a:ext cx="345391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80" b="0">
                <a:solidFill>
                  <a:srgbClr val="ED7100"/>
                </a:solidFill>
                <a:latin typeface="Arial"/>
                <a:ea typeface="맑은 고딕"/>
                <a:cs typeface="Arial"/>
              </a:rPr>
              <a:t>DeciderGate  (before_tool_call · 로컬)</a:t>
            </a:r>
          </a:p>
        </p:txBody>
      </p:sp>
      <p:sp>
        <p:nvSpPr>
          <p:cNvPr id="10" name="group:generic"/>
          <p:cNvSpPr/>
          <p:nvPr/>
        </p:nvSpPr>
        <p:spPr>
          <a:xfrm>
            <a:off x="9600971" y="868680"/>
            <a:ext cx="2270684" cy="5029200"/>
          </a:xfrm>
          <a:prstGeom prst="rect">
            <a:avLst/>
          </a:prstGeom>
          <a:noFill/>
          <a:ln w="15875">
            <a:solidFill>
              <a:srgbClr val="7D899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0971" y="923544"/>
            <a:ext cx="227068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80" b="0">
                <a:solidFill>
                  <a:srgbClr val="7D8998"/>
                </a:solidFill>
                <a:latin typeface="Arial"/>
                <a:ea typeface="맑은 고딕"/>
                <a:cs typeface="Arial"/>
              </a:rPr>
              <a:t>Remediation</a:t>
            </a:r>
          </a:p>
        </p:txBody>
      </p:sp>
      <p:cxnSp>
        <p:nvCxnSpPr>
          <p:cNvPr id="28" name="Connector 27"/>
          <p:cNvCxnSpPr>
            <a:stCxn id="13" idx="2"/>
            <a:endCxn id="14" idx="0"/>
          </p:cNvCxnSpPr>
          <p:nvPr/>
        </p:nvCxnSpPr>
        <p:spPr>
          <a:xfrm>
            <a:off x="1455381" y="3290011"/>
            <a:ext cx="0" cy="400507"/>
          </a:xfrm>
          <a:prstGeom prst="straightConnector1">
            <a:avLst/>
          </a:prstGeom>
          <a:ln w="12700">
            <a:solidFill>
              <a:srgbClr val="D5D9DE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4" idx="3"/>
            <a:endCxn id="17" idx="2"/>
          </p:cNvCxnSpPr>
          <p:nvPr/>
        </p:nvCxnSpPr>
        <p:spPr>
          <a:xfrm flipV="1">
            <a:off x="1718729" y="3948379"/>
            <a:ext cx="2391384" cy="5486"/>
          </a:xfrm>
          <a:prstGeom prst="bentConnector2">
            <a:avLst/>
          </a:prstGeom>
          <a:ln w="12700">
            <a:solidFill>
              <a:srgbClr val="D5D9DE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6" idx="3"/>
            <a:endCxn id="19" idx="2"/>
          </p:cNvCxnSpPr>
          <p:nvPr/>
        </p:nvCxnSpPr>
        <p:spPr>
          <a:xfrm flipV="1">
            <a:off x="4373460" y="2267711"/>
            <a:ext cx="3049752" cy="1027785"/>
          </a:xfrm>
          <a:prstGeom prst="bentConnector2">
            <a:avLst/>
          </a:prstGeom>
          <a:ln w="12700">
            <a:solidFill>
              <a:srgbClr val="D5D9DE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9" idx="2"/>
            <a:endCxn id="20" idx="0"/>
          </p:cNvCxnSpPr>
          <p:nvPr/>
        </p:nvCxnSpPr>
        <p:spPr>
          <a:xfrm rot="5400000">
            <a:off x="6335991" y="2603296"/>
            <a:ext cx="1422806" cy="751636"/>
          </a:xfrm>
          <a:prstGeom prst="bentConnector3">
            <a:avLst/>
          </a:prstGeom>
          <a:ln w="12700">
            <a:solidFill>
              <a:srgbClr val="D5D9DE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20" idx="3"/>
            <a:endCxn id="22" idx="1"/>
          </p:cNvCxnSpPr>
          <p:nvPr/>
        </p:nvCxnSpPr>
        <p:spPr>
          <a:xfrm>
            <a:off x="6934923" y="3953865"/>
            <a:ext cx="976579" cy="0"/>
          </a:xfrm>
          <a:prstGeom prst="straightConnector1">
            <a:avLst/>
          </a:prstGeom>
          <a:ln w="12700">
            <a:solidFill>
              <a:srgbClr val="D5D9DE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stCxn id="22" idx="3"/>
            <a:endCxn id="24" idx="1"/>
          </p:cNvCxnSpPr>
          <p:nvPr/>
        </p:nvCxnSpPr>
        <p:spPr>
          <a:xfrm flipV="1">
            <a:off x="8438197" y="2637129"/>
            <a:ext cx="2034768" cy="1316736"/>
          </a:xfrm>
          <a:prstGeom prst="bentConnector3">
            <a:avLst/>
          </a:prstGeom>
          <a:ln w="12700">
            <a:solidFill>
              <a:srgbClr val="D5D9DE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22" idx="3"/>
            <a:endCxn id="26" idx="1"/>
          </p:cNvCxnSpPr>
          <p:nvPr/>
        </p:nvCxnSpPr>
        <p:spPr>
          <a:xfrm>
            <a:off x="8438197" y="3953865"/>
            <a:ext cx="2034768" cy="0"/>
          </a:xfrm>
          <a:prstGeom prst="straightConnector1">
            <a:avLst/>
          </a:prstGeom>
          <a:ln w="12700">
            <a:solidFill>
              <a:srgbClr val="D5D9DE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18" idx="1"/>
            <a:endCxn id="14" idx="3"/>
          </p:cNvCxnSpPr>
          <p:nvPr/>
        </p:nvCxnSpPr>
        <p:spPr>
          <a:xfrm flipH="1">
            <a:off x="1718729" y="1614830"/>
            <a:ext cx="5441137" cy="2339035"/>
          </a:xfrm>
          <a:prstGeom prst="bentConnector3">
            <a:avLst/>
          </a:prstGeom>
          <a:ln w="28575">
            <a:solidFill>
              <a:srgbClr val="DD344C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icon:amazon-cloudwatch" descr="image.png"/>
          <p:cNvPicPr>
            <a:picLocks noChangeAspect="1"/>
          </p:cNvPicPr>
          <p:nvPr/>
        </p:nvPicPr>
        <p:blipFill>
          <a:blip r:embed="rId4">
            <a:alphaModFix amt="28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92035" y="2373782"/>
            <a:ext cx="526694" cy="52669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4718" y="2944368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B0B7C0"/>
                </a:solidFill>
                <a:latin typeface="Arial"/>
                <a:ea typeface="맑은 고딕"/>
                <a:cs typeface="Arial"/>
              </a:rPr>
              <a:t>Incident</a:t>
            </a:r>
          </a:p>
          <a:p>
            <a:pPr algn="ctr"/>
            <a:r>
              <a:rPr sz="1019" b="0">
                <a:solidFill>
                  <a:srgbClr val="B0B7C0"/>
                </a:solidFill>
                <a:latin typeface="Arial"/>
                <a:ea typeface="맑은 고딕"/>
                <a:cs typeface="Arial"/>
              </a:rPr>
              <a:t>(5xx / 지표)</a:t>
            </a:r>
          </a:p>
        </p:txBody>
      </p:sp>
      <p:pic>
        <p:nvPicPr>
          <p:cNvPr id="14" name="icon:amazon-q" descr="image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92035" y="3690518"/>
            <a:ext cx="526694" cy="52669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4718" y="4261104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SRE Agent</a:t>
            </a:r>
          </a:p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(Strands)</a:t>
            </a:r>
          </a:p>
        </p:txBody>
      </p:sp>
      <p:pic>
        <p:nvPicPr>
          <p:cNvPr id="16" name="icon:amazon-bedrock" descr="image.png"/>
          <p:cNvPicPr>
            <a:picLocks noChangeAspect="1"/>
          </p:cNvPicPr>
          <p:nvPr/>
        </p:nvPicPr>
        <p:blipFill>
          <a:blip r:embed="rId8">
            <a:alphaModFix amt="28000"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846767" y="3032150"/>
            <a:ext cx="526694" cy="52669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369450" y="3602736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B0B7C0"/>
                </a:solidFill>
                <a:latin typeface="Arial"/>
                <a:ea typeface="맑은 고딕"/>
                <a:cs typeface="Arial"/>
              </a:rPr>
              <a:t>Amazon Bedrock</a:t>
            </a:r>
          </a:p>
          <a:p>
            <a:pPr algn="ctr"/>
            <a:r>
              <a:rPr sz="1019" b="0">
                <a:solidFill>
                  <a:srgbClr val="B0B7C0"/>
                </a:solidFill>
                <a:latin typeface="Arial"/>
                <a:ea typeface="맑은 고딕"/>
                <a:cs typeface="Arial"/>
              </a:rPr>
              <a:t>(에이전트 LLM)</a:t>
            </a:r>
          </a:p>
        </p:txBody>
      </p:sp>
      <p:pic>
        <p:nvPicPr>
          <p:cNvPr id="18" name="icon:aws-lambda" descr="image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159866" y="1351483"/>
            <a:ext cx="526694" cy="52669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82550" y="1922069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Gate</a:t>
            </a:r>
          </a:p>
          <a:p>
            <a:pPr algn="ctr"/>
            <a:r>
              <a:rPr sz="1019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before_tool_call</a:t>
            </a:r>
          </a:p>
        </p:txBody>
      </p:sp>
      <p:pic>
        <p:nvPicPr>
          <p:cNvPr id="20" name="icon:amazon-bedrock" descr="image.png"/>
          <p:cNvPicPr>
            <a:picLocks noChangeAspect="1"/>
          </p:cNvPicPr>
          <p:nvPr/>
        </p:nvPicPr>
        <p:blipFill>
          <a:blip r:embed="rId8">
            <a:alphaModFix amt="28000"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08230" y="3690518"/>
            <a:ext cx="526694" cy="52669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930913" y="4261104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B0B7C0"/>
                </a:solidFill>
                <a:latin typeface="Arial"/>
                <a:ea typeface="맑은 고딕"/>
                <a:cs typeface="Arial"/>
              </a:rPr>
              <a:t>Decider 2B</a:t>
            </a:r>
          </a:p>
          <a:p>
            <a:pPr algn="ctr"/>
            <a:r>
              <a:rPr sz="1019" b="0">
                <a:solidFill>
                  <a:srgbClr val="B0B7C0"/>
                </a:solidFill>
                <a:latin typeface="Arial"/>
                <a:ea typeface="맑은 고딕"/>
                <a:cs typeface="Arial"/>
              </a:rPr>
              <a:t>(로컬·MLX)</a:t>
            </a:r>
          </a:p>
        </p:txBody>
      </p:sp>
      <p:pic>
        <p:nvPicPr>
          <p:cNvPr id="22" name="icon:aws-identity-and-access-management-iam" descr="image.png"/>
          <p:cNvPicPr>
            <a:picLocks noChangeAspect="1"/>
          </p:cNvPicPr>
          <p:nvPr/>
        </p:nvPicPr>
        <p:blipFill>
          <a:blip r:embed="rId12">
            <a:alphaModFix amt="28000"/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911503" y="3690518"/>
            <a:ext cx="526694" cy="52669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434186" y="4261104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B0B7C0"/>
                </a:solidFill>
                <a:latin typeface="Arial"/>
                <a:ea typeface="맑은 고딕"/>
                <a:cs typeface="Arial"/>
              </a:rPr>
              <a:t>Policy</a:t>
            </a:r>
          </a:p>
          <a:p>
            <a:pPr algn="ctr"/>
            <a:r>
              <a:rPr sz="1019" b="0">
                <a:solidFill>
                  <a:srgbClr val="B0B7C0"/>
                </a:solidFill>
                <a:latin typeface="Arial"/>
                <a:ea typeface="맑은 고딕"/>
                <a:cs typeface="Arial"/>
              </a:rPr>
              <a:t>(코드·임계값)</a:t>
            </a:r>
          </a:p>
        </p:txBody>
      </p:sp>
      <p:pic>
        <p:nvPicPr>
          <p:cNvPr id="24" name="icon:amazon-elastic-compute-cloud-amazon-ec2" descr="image.png"/>
          <p:cNvPicPr>
            <a:picLocks noChangeAspect="1"/>
          </p:cNvPicPr>
          <p:nvPr/>
        </p:nvPicPr>
        <p:blipFill>
          <a:blip r:embed="rId14">
            <a:alphaModFix amt="28000"/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0472966" y="2373782"/>
            <a:ext cx="526694" cy="52669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995649" y="2944368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B0B7C0"/>
                </a:solidFill>
                <a:latin typeface="Arial"/>
                <a:ea typeface="맑은 고딕"/>
                <a:cs typeface="Arial"/>
              </a:rPr>
              <a:t>rollback</a:t>
            </a:r>
          </a:p>
          <a:p>
            <a:pPr algn="ctr"/>
            <a:r>
              <a:rPr sz="1019" b="0">
                <a:solidFill>
                  <a:srgbClr val="B0B7C0"/>
                </a:solidFill>
                <a:latin typeface="Arial"/>
                <a:ea typeface="맑은 고딕"/>
                <a:cs typeface="Arial"/>
              </a:rPr>
              <a:t>(bad deploy)</a:t>
            </a:r>
          </a:p>
        </p:txBody>
      </p:sp>
      <p:pic>
        <p:nvPicPr>
          <p:cNvPr id="26" name="icon:amazon-ec2-auto-scaling" descr="image.png"/>
          <p:cNvPicPr>
            <a:picLocks noChangeAspect="1"/>
          </p:cNvPicPr>
          <p:nvPr/>
        </p:nvPicPr>
        <p:blipFill>
          <a:blip r:embed="rId16">
            <a:alphaModFix amt="28000"/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0472966" y="3690518"/>
            <a:ext cx="526694" cy="52669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995649" y="4261104"/>
            <a:ext cx="1481328" cy="504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B0B7C0"/>
                </a:solidFill>
                <a:latin typeface="Arial"/>
                <a:ea typeface="맑은 고딕"/>
                <a:cs typeface="Arial"/>
              </a:rPr>
              <a:t>scale_out</a:t>
            </a:r>
          </a:p>
          <a:p>
            <a:pPr algn="ctr"/>
            <a:r>
              <a:rPr sz="1019" b="0">
                <a:solidFill>
                  <a:srgbClr val="B0B7C0"/>
                </a:solidFill>
                <a:latin typeface="Arial"/>
                <a:ea typeface="맑은 고딕"/>
                <a:cs typeface="Arial"/>
              </a:rPr>
              <a:t>(traffic surge)</a:t>
            </a:r>
          </a:p>
        </p:txBody>
      </p:sp>
      <p:sp>
        <p:nvSpPr>
          <p:cNvPr id="36" name="badge:4"/>
          <p:cNvSpPr/>
          <p:nvPr/>
        </p:nvSpPr>
        <p:spPr>
          <a:xfrm>
            <a:off x="2930881" y="3805733"/>
            <a:ext cx="296266" cy="296266"/>
          </a:xfrm>
          <a:prstGeom prst="ellipse">
            <a:avLst/>
          </a:prstGeom>
          <a:solidFill>
            <a:srgbClr val="232F3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맑은 고딕"/>
                <a:cs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40089" y="4127602"/>
            <a:ext cx="1077849" cy="201168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D8998"/>
                </a:solidFill>
                <a:latin typeface="Arial"/>
                <a:ea typeface="맑은 고딕"/>
                <a:cs typeface="Arial"/>
              </a:rPr>
              <a:t>Guide (근거 없음)</a:t>
            </a:r>
          </a:p>
        </p:txBody>
      </p:sp>
      <p:sp>
        <p:nvSpPr>
          <p:cNvPr id="38" name="legend"/>
          <p:cNvSpPr/>
          <p:nvPr/>
        </p:nvSpPr>
        <p:spPr>
          <a:xfrm>
            <a:off x="320040" y="6012180"/>
            <a:ext cx="1691640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605790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Flow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29768" y="6341364"/>
            <a:ext cx="457200" cy="0"/>
          </a:xfrm>
          <a:prstGeom prst="straightConnector1">
            <a:avLst/>
          </a:prstGeom>
          <a:ln w="19050">
            <a:solidFill>
              <a:srgbClr val="D86613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960120" y="625906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조치 제안 / 흐름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29768" y="6524244"/>
            <a:ext cx="457200" cy="0"/>
          </a:xfrm>
          <a:prstGeom prst="straightConnector1">
            <a:avLst/>
          </a:prstGeom>
          <a:ln w="19050">
            <a:solidFill>
              <a:srgbClr val="147EBA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60120" y="644194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분류 질문·응답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29768" y="6707124"/>
            <a:ext cx="457200" cy="0"/>
          </a:xfrm>
          <a:prstGeom prst="straightConnector1">
            <a:avLst/>
          </a:prstGeom>
          <a:ln w="19050">
            <a:solidFill>
              <a:srgbClr val="DD344C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60120" y="66248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Alert / Event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240280" y="6062472"/>
            <a:ext cx="9631375" cy="7223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6613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badge:4"/>
          <p:cNvSpPr/>
          <p:nvPr/>
        </p:nvSpPr>
        <p:spPr>
          <a:xfrm>
            <a:off x="2359152" y="6268212"/>
            <a:ext cx="310896" cy="310896"/>
          </a:xfrm>
          <a:prstGeom prst="ellipse">
            <a:avLst/>
          </a:prstGeom>
          <a:solidFill>
            <a:srgbClr val="232F3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맑은 고딕"/>
                <a:cs typeface="Arial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88920" y="6117336"/>
            <a:ext cx="8945575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232F3E"/>
                </a:solidFill>
                <a:latin typeface="Arial"/>
                <a:ea typeface="맑은 고딕"/>
                <a:cs typeface="Arial"/>
              </a:rPr>
              <a:t>근거가 약하면 Block이 아니라 Guide로 에이전트에 이유를 돌려준다. 에이전트는 원인을 다시 보고 올바른 조치를 고르거나 사람을 부른다.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